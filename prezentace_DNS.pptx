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9" r:id="rId12"/>
    <p:sldMasterId id="2147483671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45A562-321A-42FF-9580-8D73D9D5B9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A324C84-DE79-42D0-9A24-BD3D011F09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ADF9C9-7265-47BB-8B6D-3E75E68F31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B04CDE5-23F9-4ABB-8C14-4EC5C6921F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A578464-2004-46A1-A913-2425982B1D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5CF6C8F-DA9B-4200-9360-6B4619C49C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E5EA8AD-7AEC-4623-BB5E-10CFFA0CF2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B403F37-1DF8-4A8E-B041-AFE1D41E90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8D91C24-1E46-4721-89D2-EE8B43B59A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63CB571-9E17-4276-9080-E6A5C7855F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A78B99F-6D4F-4026-B5A7-3471C9EE87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B701C6CE-DCAE-420E-B9B8-5928B6B7F3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1A18B82-7ADF-44DC-96BF-195721187D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E635B3-1E78-4846-B035-9A105ECEB7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8A6412-7B48-40ED-A90C-AAF8CB4E91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19D962-9C59-4F60-8BAA-18D4A10528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3FA70F-95BF-4239-917D-BEDA1358B0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FEB9744-60F1-468B-8439-9DF24C04DC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4E68CC0-E833-49A7-9F0F-ECC4946AA9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956A217-872A-459A-A09A-A6303E40BB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FAA87FB-405E-4EC1-A12B-531285F067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6A08C58-4581-4B1E-B0E3-C8D693DC31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D676B8-376B-4753-9E8B-2A3936BC74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cs-CZ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2676F4-4948-4B06-B72B-0C4C485C4F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D73CBA-39DA-45CF-BE06-997312E85D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cs-CZ" sz="4000" spc="-1" strike="noStrike">
                <a:solidFill>
                  <a:srgbClr val="000000"/>
                </a:solidFill>
                <a:latin typeface="Arial"/>
              </a:rPr>
              <a:t>DNS jako distribuovaný systém</a:t>
            </a:r>
            <a:endParaRPr b="0" lang="cs-CZ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cs-CZ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cs-CZ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cs-CZ" sz="4000" spc="-1" strike="noStrike">
                <a:solidFill>
                  <a:srgbClr val="000000"/>
                </a:solidFill>
                <a:latin typeface="Arial"/>
              </a:rPr>
              <a:t>Adam Votava</a:t>
            </a:r>
            <a:endParaRPr b="0" lang="cs-CZ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387 milionů registrovaných domén(2025)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Překlad lidsky čitelných jmen na IP adresu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ARPANET, 70. léta — malá síť, pár stovek počítačů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Jeden soubor HOSTS.TXT spravovaný centrálně </a:t>
            </a: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organizací NIC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Problémy při růstu sítě: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Kolize jmen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Zastaralá data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Jediný bod selhání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Škálování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1983: Paul Mockapetris navrhuje DNS (RFC 1034, 1035)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Hierarchický, distribuovaný systém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Žádná centrální autorita nemusí znát vše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Odpovědnost delegována dolů po stromě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609120" y="540000"/>
            <a:ext cx="6410880" cy="57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61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Entita: libovolný zdroj či uzel v síti, který potřebujeme lokalizovat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Adresa: ukazuje na místo přístupu k entitě (může se měnit, např. IP adresa)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Lidsky čitelné jméno: znakový řetězec pro lidi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Tvar jmenného prostoru DNS: značený orientovaný kořenový strom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Logické vrstvy: Globální → Administrační → Manažerská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1" descr="fig6.14.png"/>
          <p:cNvPicPr/>
          <p:nvPr/>
        </p:nvPicPr>
        <p:blipFill>
          <a:blip r:embed="rId1"/>
          <a:srcRect l="21113" t="0" r="10879" b="0"/>
          <a:stretch/>
        </p:blipFill>
        <p:spPr>
          <a:xfrm>
            <a:off x="7020000" y="2779920"/>
            <a:ext cx="4650120" cy="29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4400" spc="-1" strike="noStrike">
                <a:solidFill>
                  <a:srgbClr val="000000"/>
                </a:solidFill>
                <a:latin typeface="Arial"/>
              </a:rPr>
              <a:t>Zóna ≠ doména</a:t>
            </a: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Doména = celý logický podstrom (uhk.cz + vše pod ním)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Zóna = část, za kterou konkrétní server nese odpovědnost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Zóna končí tam, kde dochází k delegaci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Hranice zón = cuts/řezy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Glue záznamy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609120" y="540000"/>
            <a:ext cx="10969560" cy="30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Mechanismus uzávěru: nutnost znát počáteční IP adresu resolveru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Iterativní překlad x Rekurzivní překlad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Stub resolver: část OS odesílající pouze rekurzivní dotazy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Autoritativní server: finální odpověď pro svou zónu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Picture 2" descr="fig6.16.png"/>
          <p:cNvPicPr/>
          <p:nvPr/>
        </p:nvPicPr>
        <p:blipFill>
          <a:blip r:embed="rId1"/>
          <a:srcRect l="15264" t="0" r="25893" b="0"/>
          <a:stretch/>
        </p:blipFill>
        <p:spPr>
          <a:xfrm>
            <a:off x="900000" y="3622680"/>
            <a:ext cx="4823640" cy="267732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3" descr="fig6.17.png"/>
          <p:cNvPicPr/>
          <p:nvPr/>
        </p:nvPicPr>
        <p:blipFill>
          <a:blip r:embed="rId2"/>
          <a:srcRect l="25037" t="0" r="17565" b="0"/>
          <a:stretch/>
        </p:blipFill>
        <p:spPr>
          <a:xfrm>
            <a:off x="6300360" y="3622680"/>
            <a:ext cx="4859280" cy="255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4400" spc="-1" strike="noStrike">
                <a:solidFill>
                  <a:srgbClr val="000000"/>
                </a:solidFill>
                <a:latin typeface="Arial"/>
              </a:rPr>
              <a:t>Caching</a:t>
            </a: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Výsledky se ukládají na více úrovních: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OS (stub resolver)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Router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Rekurzivní resolver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TTL (Time to Live) — vlastník záznamu určuje jak dlouho smí být cachován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Každá zóna musí mít alespoň dva autoritativní servery (primární + sekundární)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Sekundární servery stahují data přes zone transfer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Mechanismus NOTIFY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DNS implementuje eventuální konzistenci (dostupnost před okamžitou konzistencí)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4400" spc="-1" strike="noStrike">
                <a:solidFill>
                  <a:srgbClr val="000000"/>
                </a:solidFill>
                <a:latin typeface="Arial"/>
              </a:rPr>
              <a:t>Kořenové servery</a:t>
            </a: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13 kořenových serverů (A–M), za nimi tisíce fyzických instancí (~1 900 v roce 2026)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Anycast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Cachování dramaticky snižuje počet dotazů, které vůbec doputují k autoritativním serverům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09120" y="162000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DNS z roku 1983 — žádné zabezpečení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Předpoklad: malá, důvěryhodná síť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Veškerý provoz v čitelném textu, žádná autentizace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Tento předpoklad brzy přestal platit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4400" spc="-1" strike="noStrike">
                <a:solidFill>
                  <a:srgbClr val="000000"/>
                </a:solidFill>
                <a:latin typeface="Arial"/>
              </a:rPr>
              <a:t>Útoky</a:t>
            </a: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Cache Poisoning – útočník závodí s legitimní odpovědí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DNS Amplification 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Amplifikační faktor 30–50×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pc="-1" strike="noStrike">
                <a:solidFill>
                  <a:srgbClr val="000000"/>
                </a:solidFill>
                <a:latin typeface="Arial"/>
              </a:rPr>
              <a:t>Obrana: Rate Limiting, filtrování paketů na úrovni ISP</a:t>
            </a:r>
            <a:endParaRPr b="0" lang="cs-CZ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4400" spc="-1" strike="noStrike">
                <a:solidFill>
                  <a:srgbClr val="000000"/>
                </a:solidFill>
                <a:latin typeface="Arial"/>
              </a:rPr>
              <a:t>DNSSEC</a:t>
            </a: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Přidává kryptografické podpisy k DNS záznamům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Řetězec důvěry: kořenová zóna → TLD → domény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Resolver má zabudovaný veřejný klíč kořenové zóny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Každá zóna ověřuje klíč té níže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DNSSEC chrání integritu dat — ne soukromí, provoz stále nešifrován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cs-CZ" sz="4400" spc="-1" strike="noStrike">
                <a:solidFill>
                  <a:srgbClr val="000000"/>
                </a:solidFill>
                <a:latin typeface="Arial"/>
              </a:rPr>
              <a:t>DoT a DoH</a:t>
            </a: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Klasické DNS = čitelný text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DNS over TLS (DoT) — šifrovaný tunel, port 853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DNS over HTTPS (DoH) — dotazy skryté v běžném HTTPS provozu, port 443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Výchozím standardem zatím stále nešifrované DNS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8760" y="108000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/>
          </a:bodyPr>
          <a:p>
            <a:pPr marL="432000" indent="0">
              <a:spcBef>
                <a:spcPts val="1417"/>
              </a:spcBef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Hierarchická delegace → žádná centrální autorita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Eventuální konzistence → dostupnost nad okamžitou přesností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Masivní replikace + cachování → miliarda dotazů denně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40 let starý systém, stále se vyvíjí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rgbClr val="000000"/>
                </a:solidFill>
                <a:latin typeface="Arial"/>
              </a:rPr>
              <a:t>Navržen jednoduše, přežil vše</a:t>
            </a: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cs-CZ</dc:language>
  <cp:lastModifiedBy/>
  <dcterms:modified xsi:type="dcterms:W3CDTF">2026-04-28T12:31:52Z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