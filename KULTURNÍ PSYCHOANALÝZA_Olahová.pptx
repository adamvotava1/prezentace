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Nunito"/>
      <p:regular r:id="rId14"/>
      <p:bold r:id="rId15"/>
      <p:italic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Nunito-bold.fntdata"/><Relationship Id="rId14" Type="http://schemas.openxmlformats.org/officeDocument/2006/relationships/font" Target="fonts/Nunito-regular.fntdata"/><Relationship Id="rId17" Type="http://schemas.openxmlformats.org/officeDocument/2006/relationships/font" Target="fonts/Nunito-boldItalic.fntdata"/><Relationship Id="rId16" Type="http://schemas.openxmlformats.org/officeDocument/2006/relationships/font" Target="fonts/Nuni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97f94452c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97f94452c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97f94452c5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97f94452c5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97f94452c5_0_1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97f94452c5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97f94452c5_0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97f94452c5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97f94452c5_0_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97f94452c5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97f94452c5_0_1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97f94452c5_0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97f94452c5_0_1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97f94452c5_0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6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 rot="10800000">
            <a:off x="5058905" y="0"/>
            <a:ext cx="4085100" cy="20526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20327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" name="Google Shape;14;p2"/>
          <p:cNvGrpSpPr/>
          <p:nvPr/>
        </p:nvGrpSpPr>
        <p:grpSpPr>
          <a:xfrm>
            <a:off x="255200" y="592"/>
            <a:ext cx="2250363" cy="1044300"/>
            <a:chOff x="255200" y="592"/>
            <a:chExt cx="2250363" cy="1044300"/>
          </a:xfrm>
        </p:grpSpPr>
        <p:sp>
          <p:nvSpPr>
            <p:cNvPr id="15" name="Google Shape;15;p2"/>
            <p:cNvSpPr/>
            <p:nvPr/>
          </p:nvSpPr>
          <p:spPr>
            <a:xfrm>
              <a:off x="764063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509632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55200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" name="Google Shape;18;p2"/>
          <p:cNvGrpSpPr/>
          <p:nvPr/>
        </p:nvGrpSpPr>
        <p:grpSpPr>
          <a:xfrm>
            <a:off x="905395" y="592"/>
            <a:ext cx="2250363" cy="1044300"/>
            <a:chOff x="905395" y="592"/>
            <a:chExt cx="2250363" cy="1044300"/>
          </a:xfrm>
        </p:grpSpPr>
        <p:sp>
          <p:nvSpPr>
            <p:cNvPr id="19" name="Google Shape;19;p2"/>
            <p:cNvSpPr/>
            <p:nvPr/>
          </p:nvSpPr>
          <p:spPr>
            <a:xfrm>
              <a:off x="1414258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1159826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905395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" name="Google Shape;22;p2"/>
          <p:cNvGrpSpPr/>
          <p:nvPr/>
        </p:nvGrpSpPr>
        <p:grpSpPr>
          <a:xfrm>
            <a:off x="7057468" y="5088"/>
            <a:ext cx="1851282" cy="752108"/>
            <a:chOff x="6917201" y="0"/>
            <a:chExt cx="2227777" cy="863400"/>
          </a:xfrm>
        </p:grpSpPr>
        <p:sp>
          <p:nvSpPr>
            <p:cNvPr id="23" name="Google Shape;23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" name="Google Shape;26;p2"/>
          <p:cNvGrpSpPr/>
          <p:nvPr/>
        </p:nvGrpSpPr>
        <p:grpSpPr>
          <a:xfrm>
            <a:off x="6553032" y="4217852"/>
            <a:ext cx="2389068" cy="925737"/>
            <a:chOff x="6917201" y="0"/>
            <a:chExt cx="2227777" cy="863400"/>
          </a:xfrm>
        </p:grpSpPr>
        <p:sp>
          <p:nvSpPr>
            <p:cNvPr id="27" name="Google Shape;27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" name="Google Shape;30;p2"/>
          <p:cNvGrpSpPr/>
          <p:nvPr/>
        </p:nvGrpSpPr>
        <p:grpSpPr>
          <a:xfrm>
            <a:off x="199149" y="4055652"/>
            <a:ext cx="2795414" cy="1083308"/>
            <a:chOff x="6917201" y="0"/>
            <a:chExt cx="2227777" cy="863400"/>
          </a:xfrm>
        </p:grpSpPr>
        <p:sp>
          <p:nvSpPr>
            <p:cNvPr id="31" name="Google Shape;31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" name="Google Shape;34;p2"/>
          <p:cNvSpPr txBox="1"/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35" name="Google Shape;35;p2"/>
          <p:cNvSpPr txBox="1"/>
          <p:nvPr>
            <p:ph idx="1" type="subTitle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" name="Google Shape;36;p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"/>
          <p:cNvSpPr/>
          <p:nvPr/>
        </p:nvSpPr>
        <p:spPr>
          <a:xfrm flipH="1">
            <a:off x="4757100" y="2309400"/>
            <a:ext cx="4386900" cy="2834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9" name="Google Shape;39;p3"/>
          <p:cNvGrpSpPr/>
          <p:nvPr/>
        </p:nvGrpSpPr>
        <p:grpSpPr>
          <a:xfrm>
            <a:off x="5594191" y="3961115"/>
            <a:ext cx="2910145" cy="1182340"/>
            <a:chOff x="6917201" y="0"/>
            <a:chExt cx="2227777" cy="863400"/>
          </a:xfrm>
        </p:grpSpPr>
        <p:sp>
          <p:nvSpPr>
            <p:cNvPr id="40" name="Google Shape;40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" name="Google Shape;43;p3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44" name="Google Shape;44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7" name="Google Shape;47;p3"/>
          <p:cNvSpPr txBox="1"/>
          <p:nvPr>
            <p:ph type="title"/>
          </p:nvPr>
        </p:nvSpPr>
        <p:spPr>
          <a:xfrm>
            <a:off x="1888684" y="1746100"/>
            <a:ext cx="5377500" cy="164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8" name="Google Shape;48;p3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chemeClr val="dk2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4" name="Google Shape;54;p4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4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solidFill>
          <a:schemeClr val="dk2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5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1" name="Google Shape;61;p5"/>
          <p:cNvSpPr txBox="1"/>
          <p:nvPr>
            <p:ph idx="1" type="body"/>
          </p:nvPr>
        </p:nvSpPr>
        <p:spPr>
          <a:xfrm>
            <a:off x="819150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2" name="Google Shape;62;p5"/>
          <p:cNvSpPr txBox="1"/>
          <p:nvPr>
            <p:ph idx="2" type="body"/>
          </p:nvPr>
        </p:nvSpPr>
        <p:spPr>
          <a:xfrm>
            <a:off x="4638675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3" name="Google Shape;63;p5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solidFill>
          <a:schemeClr val="dk2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6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6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6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9" name="Google Shape;69;p6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bg>
      <p:bgPr>
        <a:solidFill>
          <a:schemeClr val="accent3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7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7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7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7"/>
          <p:cNvSpPr txBox="1"/>
          <p:nvPr>
            <p:ph type="title"/>
          </p:nvPr>
        </p:nvSpPr>
        <p:spPr>
          <a:xfrm>
            <a:off x="819150" y="845600"/>
            <a:ext cx="3709200" cy="138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5" name="Google Shape;75;p7"/>
          <p:cNvSpPr txBox="1"/>
          <p:nvPr>
            <p:ph idx="1" type="body"/>
          </p:nvPr>
        </p:nvSpPr>
        <p:spPr>
          <a:xfrm>
            <a:off x="830700" y="2319050"/>
            <a:ext cx="3709200" cy="211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6" name="Google Shape;76;p7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8"/>
          <p:cNvSpPr/>
          <p:nvPr/>
        </p:nvSpPr>
        <p:spPr>
          <a:xfrm>
            <a:off x="0" y="2823144"/>
            <a:ext cx="7369200" cy="2316900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8"/>
          <p:cNvSpPr/>
          <p:nvPr/>
        </p:nvSpPr>
        <p:spPr>
          <a:xfrm flipH="1">
            <a:off x="3583210" y="1554113"/>
            <a:ext cx="5560500" cy="35895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0" name="Google Shape;80;p8"/>
          <p:cNvGrpSpPr/>
          <p:nvPr/>
        </p:nvGrpSpPr>
        <p:grpSpPr>
          <a:xfrm>
            <a:off x="255991" y="-118"/>
            <a:ext cx="2251347" cy="1043408"/>
            <a:chOff x="3961956" y="4383950"/>
            <a:chExt cx="1160548" cy="548700"/>
          </a:xfrm>
        </p:grpSpPr>
        <p:sp>
          <p:nvSpPr>
            <p:cNvPr id="81" name="Google Shape;81;p8"/>
            <p:cNvSpPr/>
            <p:nvPr/>
          </p:nvSpPr>
          <p:spPr>
            <a:xfrm>
              <a:off x="4224904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>
              <a:off x="4093430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>
              <a:off x="3961956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4" name="Google Shape;84;p8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5" name="Google Shape;85;p8"/>
          <p:cNvGrpSpPr/>
          <p:nvPr/>
        </p:nvGrpSpPr>
        <p:grpSpPr>
          <a:xfrm>
            <a:off x="34934" y="4522125"/>
            <a:ext cx="1593306" cy="617072"/>
            <a:chOff x="6917201" y="0"/>
            <a:chExt cx="2227777" cy="863400"/>
          </a:xfrm>
        </p:grpSpPr>
        <p:sp>
          <p:nvSpPr>
            <p:cNvPr id="86" name="Google Shape;86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9" name="Google Shape;89;p8"/>
          <p:cNvGrpSpPr/>
          <p:nvPr/>
        </p:nvGrpSpPr>
        <p:grpSpPr>
          <a:xfrm>
            <a:off x="5886353" y="1243"/>
            <a:ext cx="3257455" cy="1261514"/>
            <a:chOff x="6917201" y="0"/>
            <a:chExt cx="2227777" cy="863400"/>
          </a:xfrm>
        </p:grpSpPr>
        <p:sp>
          <p:nvSpPr>
            <p:cNvPr id="90" name="Google Shape;90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3" name="Google Shape;93;p8"/>
          <p:cNvSpPr txBox="1"/>
          <p:nvPr>
            <p:ph type="title"/>
          </p:nvPr>
        </p:nvSpPr>
        <p:spPr>
          <a:xfrm>
            <a:off x="1393929" y="1301146"/>
            <a:ext cx="6366900" cy="253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94" name="Google Shape;94;p8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2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9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9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9"/>
          <p:cNvSpPr txBox="1"/>
          <p:nvPr>
            <p:ph type="title"/>
          </p:nvPr>
        </p:nvSpPr>
        <p:spPr>
          <a:xfrm>
            <a:off x="819150" y="845600"/>
            <a:ext cx="6424200" cy="7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00" name="Google Shape;100;p9"/>
          <p:cNvSpPr txBox="1"/>
          <p:nvPr>
            <p:ph idx="1" type="subTitle"/>
          </p:nvPr>
        </p:nvSpPr>
        <p:spPr>
          <a:xfrm>
            <a:off x="819150" y="1550700"/>
            <a:ext cx="58599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1" name="Google Shape;101;p9"/>
          <p:cNvSpPr txBox="1"/>
          <p:nvPr>
            <p:ph idx="2" type="body"/>
          </p:nvPr>
        </p:nvSpPr>
        <p:spPr>
          <a:xfrm>
            <a:off x="819150" y="2467050"/>
            <a:ext cx="5859900" cy="20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2" name="Google Shape;102;p9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bg>
      <p:bgPr>
        <a:solidFill>
          <a:schemeClr val="accent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0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0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0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0"/>
          <p:cNvSpPr txBox="1"/>
          <p:nvPr>
            <p:ph idx="1" type="body"/>
          </p:nvPr>
        </p:nvSpPr>
        <p:spPr>
          <a:xfrm>
            <a:off x="328025" y="4163500"/>
            <a:ext cx="7415100" cy="605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8" name="Google Shape;108;p10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1"/>
          <p:cNvSpPr/>
          <p:nvPr/>
        </p:nvSpPr>
        <p:spPr>
          <a:xfrm flipH="1">
            <a:off x="5569200" y="2834075"/>
            <a:ext cx="3574800" cy="23094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1" name="Google Shape;111;p11"/>
          <p:cNvGrpSpPr/>
          <p:nvPr/>
        </p:nvGrpSpPr>
        <p:grpSpPr>
          <a:xfrm>
            <a:off x="5959222" y="4119576"/>
            <a:ext cx="2520952" cy="1024165"/>
            <a:chOff x="6917201" y="0"/>
            <a:chExt cx="2227777" cy="863400"/>
          </a:xfrm>
        </p:grpSpPr>
        <p:sp>
          <p:nvSpPr>
            <p:cNvPr id="112" name="Google Shape;112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5" name="Google Shape;115;p11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116" name="Google Shape;116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9" name="Google Shape;119;p11"/>
          <p:cNvSpPr txBox="1"/>
          <p:nvPr>
            <p:ph hasCustomPrompt="1" type="title"/>
          </p:nvPr>
        </p:nvSpPr>
        <p:spPr>
          <a:xfrm>
            <a:off x="1385850" y="1383850"/>
            <a:ext cx="6372300" cy="137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0" name="Google Shape;120;p11"/>
          <p:cNvSpPr txBox="1"/>
          <p:nvPr>
            <p:ph idx="1" type="body"/>
          </p:nvPr>
        </p:nvSpPr>
        <p:spPr>
          <a:xfrm>
            <a:off x="1385850" y="2863850"/>
            <a:ext cx="6372300" cy="64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1" name="Google Shape;121;p1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hift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3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  <a:defRPr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E599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3"/>
          <p:cNvSpPr txBox="1"/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cs"/>
              <a:t>KULTURNÍ PSYCHOANALÝZA</a:t>
            </a:r>
            <a:endParaRPr/>
          </a:p>
        </p:txBody>
      </p:sp>
      <p:sp>
        <p:nvSpPr>
          <p:cNvPr id="129" name="Google Shape;129;p13"/>
          <p:cNvSpPr txBox="1"/>
          <p:nvPr>
            <p:ph idx="1" type="subTitle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93C47D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4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/>
              <a:t>ÚVOD</a:t>
            </a:r>
            <a:endParaRPr/>
          </a:p>
        </p:txBody>
      </p:sp>
      <p:sp>
        <p:nvSpPr>
          <p:cNvPr id="135" name="Google Shape;135;p14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b="1" lang="cs" sz="2000"/>
              <a:t>Psychoanalýza</a:t>
            </a:r>
            <a:r>
              <a:rPr lang="cs" sz="2000"/>
              <a:t> = psychologický směr, který zkoumá nevědomí, sny a pudy.</a:t>
            </a:r>
            <a:endParaRPr sz="2000"/>
          </a:p>
          <a:p>
            <a:pPr indent="-3556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cs" sz="2000"/>
              <a:t>Založil ji </a:t>
            </a:r>
            <a:r>
              <a:rPr b="1" lang="cs" sz="2000"/>
              <a:t>Sigmund Freud</a:t>
            </a:r>
            <a:r>
              <a:rPr lang="cs" sz="2000"/>
              <a:t> na přelomu 19. a 20. století</a:t>
            </a:r>
            <a:endParaRPr sz="2000"/>
          </a:p>
          <a:p>
            <a:pPr indent="-3556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b="1" lang="cs" sz="2000"/>
              <a:t>Kulturní psychoanalýza propojuje psychologii a kulturu</a:t>
            </a:r>
            <a:r>
              <a:rPr lang="cs" sz="2000"/>
              <a:t>.</a:t>
            </a:r>
            <a:endParaRPr sz="2000"/>
          </a:p>
          <a:p>
            <a:pPr indent="-3556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cs" sz="2000"/>
              <a:t>Zajímá se o to, </a:t>
            </a:r>
            <a:r>
              <a:rPr b="1" lang="cs" sz="2000"/>
              <a:t>jak kultura ovlivňuje člověka </a:t>
            </a:r>
            <a:r>
              <a:rPr lang="cs" sz="2000"/>
              <a:t>a jak n</a:t>
            </a:r>
            <a:r>
              <a:rPr b="1" lang="cs" sz="2000"/>
              <a:t>aše nevědomí ovlivňuje kulturu.</a:t>
            </a:r>
            <a:endParaRPr b="1" sz="2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93C47D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5"/>
          <p:cNvSpPr txBox="1"/>
          <p:nvPr>
            <p:ph type="title"/>
          </p:nvPr>
        </p:nvSpPr>
        <p:spPr>
          <a:xfrm>
            <a:off x="819150" y="591425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/>
              <a:t>CO JE KULTURNÍ PSYCHOANALÝZA</a:t>
            </a:r>
            <a:endParaRPr/>
          </a:p>
        </p:txBody>
      </p:sp>
      <p:sp>
        <p:nvSpPr>
          <p:cNvPr id="141" name="Google Shape;141;p15"/>
          <p:cNvSpPr txBox="1"/>
          <p:nvPr>
            <p:ph idx="1" type="body"/>
          </p:nvPr>
        </p:nvSpPr>
        <p:spPr>
          <a:xfrm>
            <a:off x="923800" y="151227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cs" sz="2000"/>
              <a:t>Americký psychologický směr, který navazuje na Freudovu psychoanalýzu</a:t>
            </a:r>
            <a:endParaRPr sz="2000"/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cs" sz="2000"/>
              <a:t>Zkoumá vztah </a:t>
            </a:r>
            <a:r>
              <a:rPr b="1" lang="cs" sz="2000"/>
              <a:t>psychiky člověka a kultury.</a:t>
            </a:r>
            <a:endParaRPr b="1" sz="2000"/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cs" sz="2000"/>
              <a:t>Pomáhá vysvětlit, proč lidé tvoří </a:t>
            </a:r>
            <a:r>
              <a:rPr b="1" lang="cs" sz="2000"/>
              <a:t>umění, pohádky, mýty, rituály.</a:t>
            </a:r>
            <a:endParaRPr b="1" sz="2000"/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cs" sz="2000"/>
              <a:t>Ukazuje, jak </a:t>
            </a:r>
            <a:r>
              <a:rPr b="1" lang="cs" sz="2000"/>
              <a:t>pravidla, tradice a normy</a:t>
            </a:r>
            <a:r>
              <a:rPr lang="cs" sz="2000"/>
              <a:t> ovlivňují chování. </a:t>
            </a:r>
            <a:endParaRPr sz="2000"/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b="1" lang="cs" sz="2000"/>
              <a:t>To, co lidé tvoří, odráží jejich skryté touhy a strachy.</a:t>
            </a:r>
            <a:endParaRPr b="1" sz="2000"/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b="1" lang="cs" sz="2000"/>
              <a:t>Kultura = zrcadlo lidské psychiky</a:t>
            </a:r>
            <a:endParaRPr sz="2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6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/>
              <a:t>HLAVNÍ PŘEDSTAVITELÉ</a:t>
            </a:r>
            <a:endParaRPr/>
          </a:p>
        </p:txBody>
      </p:sp>
      <p:sp>
        <p:nvSpPr>
          <p:cNvPr id="147" name="Google Shape;147;p16"/>
          <p:cNvSpPr txBox="1"/>
          <p:nvPr>
            <p:ph idx="1" type="body"/>
          </p:nvPr>
        </p:nvSpPr>
        <p:spPr>
          <a:xfrm>
            <a:off x="819150" y="1736550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2200"/>
              <a:t>Sigmund Freud</a:t>
            </a:r>
            <a:r>
              <a:rPr lang="cs" sz="2000"/>
              <a:t> </a:t>
            </a:r>
            <a:r>
              <a:rPr lang="cs" sz="1800"/>
              <a:t>(1856-1939)</a:t>
            </a:r>
            <a:endParaRPr sz="1800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cs" sz="1800"/>
              <a:t>Zakladatel psychoanalýzy.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cs" sz="1800"/>
              <a:t>Zkoumal </a:t>
            </a:r>
            <a:r>
              <a:rPr b="1" lang="cs" sz="1800"/>
              <a:t>nevědomí, pudy a sny.</a:t>
            </a:r>
            <a:endParaRPr b="1"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cs" sz="1800"/>
              <a:t>Tvrdil, že </a:t>
            </a:r>
            <a:r>
              <a:rPr b="1" lang="cs" sz="1800"/>
              <a:t>kultura vzniká z potlačených pudů</a:t>
            </a:r>
            <a:r>
              <a:rPr lang="cs" sz="1800"/>
              <a:t> - především sexuality a agrese.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cs" sz="1800"/>
              <a:t>Díla : Totem a tabu, Nespokojenost v kultuře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cs" sz="1800"/>
              <a:t>Sublimace </a:t>
            </a:r>
            <a:r>
              <a:rPr lang="cs" sz="1800"/>
              <a:t>= přetvoření pudů do umění, práce nebo vědy.</a:t>
            </a:r>
            <a:endParaRPr sz="18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7"/>
          <p:cNvSpPr txBox="1"/>
          <p:nvPr>
            <p:ph idx="1" type="body"/>
          </p:nvPr>
        </p:nvSpPr>
        <p:spPr>
          <a:xfrm>
            <a:off x="774300" y="605550"/>
            <a:ext cx="5191500" cy="417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10000"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3146"/>
              <a:t>Karen Horneyová (1885-1952)</a:t>
            </a:r>
            <a:endParaRPr b="1" sz="3146"/>
          </a:p>
          <a:p>
            <a:pPr indent="-339164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b="1" lang="cs" sz="2246"/>
              <a:t>Psychoanalytička</a:t>
            </a:r>
            <a:r>
              <a:rPr lang="cs" sz="2246"/>
              <a:t> - významná žena v psychoanalýze. </a:t>
            </a:r>
            <a:endParaRPr sz="2246"/>
          </a:p>
          <a:p>
            <a:pPr indent="-339164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cs" sz="2246"/>
              <a:t>Kritizovala </a:t>
            </a:r>
            <a:r>
              <a:rPr b="1" lang="cs" sz="2246"/>
              <a:t>Freudovy názory</a:t>
            </a:r>
            <a:r>
              <a:rPr lang="cs" sz="2246"/>
              <a:t> na ženskou psychiku a sexuální pudy.</a:t>
            </a:r>
            <a:endParaRPr sz="2246"/>
          </a:p>
          <a:p>
            <a:pPr indent="-339164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cs" sz="2246"/>
              <a:t>Zdůrazňovala vliv </a:t>
            </a:r>
            <a:r>
              <a:rPr b="1" lang="cs" sz="2246"/>
              <a:t>společnosti a kultury</a:t>
            </a:r>
            <a:r>
              <a:rPr lang="cs" sz="2246"/>
              <a:t> na psychiku.</a:t>
            </a:r>
            <a:endParaRPr sz="2246"/>
          </a:p>
          <a:p>
            <a:pPr indent="-339164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cs" sz="2246"/>
              <a:t>Psychické problémy vznikají nejen z </a:t>
            </a:r>
            <a:r>
              <a:rPr b="1" lang="cs" sz="2246"/>
              <a:t>vrozených pudů</a:t>
            </a:r>
            <a:r>
              <a:rPr lang="cs" sz="2246"/>
              <a:t>, ale i </a:t>
            </a:r>
            <a:r>
              <a:rPr b="1" lang="cs" sz="2246"/>
              <a:t>z prostředí a výchovy.</a:t>
            </a:r>
            <a:endParaRPr b="1" sz="2246"/>
          </a:p>
          <a:p>
            <a:pPr indent="-339164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cs" sz="2246"/>
              <a:t>Popsala </a:t>
            </a:r>
            <a:r>
              <a:rPr b="1" lang="cs" sz="2246"/>
              <a:t>neurotické potřeby</a:t>
            </a:r>
            <a:r>
              <a:rPr lang="cs" sz="2246"/>
              <a:t> a strategie chování: </a:t>
            </a:r>
            <a:r>
              <a:rPr b="1" lang="cs" sz="2246"/>
              <a:t>přizpůsobování se, únik, agrese.</a:t>
            </a:r>
            <a:endParaRPr b="1" sz="2246"/>
          </a:p>
          <a:p>
            <a:pPr indent="-339164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cs" sz="2246"/>
              <a:t>Její práce je základem </a:t>
            </a:r>
            <a:r>
              <a:rPr b="1" lang="cs" sz="2246"/>
              <a:t>kulturní psychoanalýzy</a:t>
            </a:r>
            <a:r>
              <a:rPr lang="cs" sz="2246"/>
              <a:t> - ukazuje,</a:t>
            </a:r>
            <a:r>
              <a:rPr b="1" lang="cs" sz="2246"/>
              <a:t> jak kultura formuje chování a hodnoty.</a:t>
            </a:r>
            <a:endParaRPr b="1" sz="2246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8"/>
          <p:cNvSpPr txBox="1"/>
          <p:nvPr>
            <p:ph idx="1" type="body"/>
          </p:nvPr>
        </p:nvSpPr>
        <p:spPr>
          <a:xfrm>
            <a:off x="819150" y="904600"/>
            <a:ext cx="7505700" cy="353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2500"/>
              <a:t>Erich Fromm</a:t>
            </a:r>
            <a:r>
              <a:rPr lang="cs" sz="2300"/>
              <a:t> </a:t>
            </a:r>
            <a:r>
              <a:rPr lang="cs" sz="2000"/>
              <a:t>(1900-1980)</a:t>
            </a:r>
            <a:endParaRPr sz="2000"/>
          </a:p>
          <a:p>
            <a:pPr indent="-355600" lvl="0" marL="457200" rtl="0" algn="l">
              <a:spcBef>
                <a:spcPts val="1200"/>
              </a:spcBef>
              <a:spcAft>
                <a:spcPts val="0"/>
              </a:spcAft>
              <a:buSzPts val="2000"/>
              <a:buChar char="●"/>
            </a:pPr>
            <a:r>
              <a:rPr lang="cs" sz="2000"/>
              <a:t>Spojil </a:t>
            </a:r>
            <a:r>
              <a:rPr b="1" lang="cs" sz="2000"/>
              <a:t>psychoanalýzu se sociologií a filozofií.</a:t>
            </a:r>
            <a:endParaRPr b="1"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cs" sz="2000"/>
              <a:t>Zkoumal, jak </a:t>
            </a:r>
            <a:r>
              <a:rPr b="1" lang="cs" sz="2000"/>
              <a:t>kultura formuje charakter člověka.</a:t>
            </a:r>
            <a:endParaRPr b="1"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cs" sz="2000"/>
              <a:t>Dílo: Strach ze svobody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cs" sz="2000"/>
              <a:t>Tvrdil, že se lidé často </a:t>
            </a:r>
            <a:r>
              <a:rPr b="1" lang="cs" sz="2000"/>
              <a:t>bojí svobody</a:t>
            </a:r>
            <a:r>
              <a:rPr lang="cs" sz="2000"/>
              <a:t>, a proto se raději </a:t>
            </a:r>
            <a:r>
              <a:rPr b="1" lang="cs" sz="2000"/>
              <a:t>přizpůsobují systému.</a:t>
            </a:r>
            <a:endParaRPr b="1"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cs" sz="2000"/>
              <a:t>Kultura může člověka buď </a:t>
            </a:r>
            <a:r>
              <a:rPr b="1" lang="cs" sz="2000"/>
              <a:t>rozvíjet, nebo omezovat.</a:t>
            </a:r>
            <a:endParaRPr b="1" sz="2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9"/>
          <p:cNvSpPr txBox="1"/>
          <p:nvPr>
            <p:ph idx="1" type="body"/>
          </p:nvPr>
        </p:nvSpPr>
        <p:spPr>
          <a:xfrm>
            <a:off x="819150" y="904600"/>
            <a:ext cx="7505700" cy="353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2200"/>
              <a:t>Herbert Marcuse </a:t>
            </a:r>
            <a:r>
              <a:rPr lang="cs" sz="2200"/>
              <a:t>(1898-1979)</a:t>
            </a:r>
            <a:endParaRPr sz="2200"/>
          </a:p>
          <a:p>
            <a:pPr indent="-368300" lvl="0" marL="457200" rtl="0" algn="l">
              <a:spcBef>
                <a:spcPts val="1200"/>
              </a:spcBef>
              <a:spcAft>
                <a:spcPts val="0"/>
              </a:spcAft>
              <a:buSzPts val="2200"/>
              <a:buChar char="●"/>
            </a:pPr>
            <a:r>
              <a:rPr lang="cs" sz="2200"/>
              <a:t>Filozof frankfurtské školy.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cs" sz="2200"/>
              <a:t>Dílo: Eros a civilizace.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cs" sz="2200"/>
              <a:t>Kritizoval moderní společnost, protože </a:t>
            </a:r>
            <a:r>
              <a:rPr b="1" lang="cs" sz="2200"/>
              <a:t>potlačuje přirozené lidské potřeby a pudy.</a:t>
            </a:r>
            <a:endParaRPr b="1"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cs" sz="2200"/>
              <a:t>Tvrdil, že ideální kultura by měla </a:t>
            </a:r>
            <a:r>
              <a:rPr b="1" lang="cs" sz="2200"/>
              <a:t>umožnit tvořivost a svobodné vyjádření pudů.</a:t>
            </a:r>
            <a:endParaRPr b="1"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cs" sz="2200"/>
              <a:t>Spojuje </a:t>
            </a:r>
            <a:r>
              <a:rPr b="1" lang="cs" sz="2200"/>
              <a:t>psychoanalýzu s kritikou společnosti a politikou.</a:t>
            </a:r>
            <a:endParaRPr b="1" sz="22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0"/>
          <p:cNvSpPr txBox="1"/>
          <p:nvPr>
            <p:ph idx="1" type="body"/>
          </p:nvPr>
        </p:nvSpPr>
        <p:spPr>
          <a:xfrm>
            <a:off x="819150" y="1071175"/>
            <a:ext cx="7505700" cy="324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2200"/>
              <a:t>   </a:t>
            </a:r>
            <a:r>
              <a:rPr b="1" lang="cs" sz="2200"/>
              <a:t>Harry Stack Sullivan (1892-1949)</a:t>
            </a:r>
            <a:endParaRPr b="1" sz="2200"/>
          </a:p>
          <a:p>
            <a:pPr indent="-369511" lvl="0" marL="457200" rtl="0" algn="l">
              <a:spcBef>
                <a:spcPts val="1200"/>
              </a:spcBef>
              <a:spcAft>
                <a:spcPts val="0"/>
              </a:spcAft>
              <a:buSzPts val="2219"/>
              <a:buChar char="●"/>
            </a:pPr>
            <a:r>
              <a:rPr lang="cs" sz="2219"/>
              <a:t>psychoanalytik</a:t>
            </a:r>
            <a:endParaRPr sz="2219"/>
          </a:p>
          <a:p>
            <a:pPr indent="-369511" lvl="0" marL="457200" rtl="0" algn="l">
              <a:spcBef>
                <a:spcPts val="0"/>
              </a:spcBef>
              <a:spcAft>
                <a:spcPts val="0"/>
              </a:spcAft>
              <a:buSzPts val="2219"/>
              <a:buChar char="●"/>
            </a:pPr>
            <a:r>
              <a:rPr lang="cs" sz="2219"/>
              <a:t>Zaměřoval se na </a:t>
            </a:r>
            <a:r>
              <a:rPr b="1" lang="cs" sz="2219"/>
              <a:t>mezilidské vztahy</a:t>
            </a:r>
            <a:r>
              <a:rPr lang="cs" sz="2219"/>
              <a:t> a jejich vliv na psychiku.</a:t>
            </a:r>
            <a:endParaRPr sz="2219"/>
          </a:p>
          <a:p>
            <a:pPr indent="-369511" lvl="0" marL="457200" rtl="0" algn="l">
              <a:spcBef>
                <a:spcPts val="0"/>
              </a:spcBef>
              <a:spcAft>
                <a:spcPts val="0"/>
              </a:spcAft>
              <a:buSzPts val="2219"/>
              <a:buChar char="●"/>
            </a:pPr>
            <a:r>
              <a:rPr lang="cs" sz="2219"/>
              <a:t>Ukazoval, že </a:t>
            </a:r>
            <a:r>
              <a:rPr b="1" lang="cs" sz="2219"/>
              <a:t>psychika člověka je ovlivněna prostředím a společností.</a:t>
            </a:r>
            <a:endParaRPr b="1" sz="2219"/>
          </a:p>
          <a:p>
            <a:pPr indent="-369511" lvl="0" marL="457200" rtl="0" algn="l">
              <a:spcBef>
                <a:spcPts val="0"/>
              </a:spcBef>
              <a:spcAft>
                <a:spcPts val="0"/>
              </a:spcAft>
              <a:buSzPts val="2219"/>
              <a:buChar char="●"/>
            </a:pPr>
            <a:r>
              <a:rPr lang="cs" sz="2219"/>
              <a:t>psychické problémy často vznikají </a:t>
            </a:r>
            <a:r>
              <a:rPr b="1" lang="cs" sz="2219"/>
              <a:t>z napětí ve vztazích.</a:t>
            </a:r>
            <a:endParaRPr b="1" sz="2219"/>
          </a:p>
          <a:p>
            <a:pPr indent="-369511" lvl="0" marL="457200" rtl="0" algn="l">
              <a:spcBef>
                <a:spcPts val="0"/>
              </a:spcBef>
              <a:spcAft>
                <a:spcPts val="0"/>
              </a:spcAft>
              <a:buSzPts val="2219"/>
              <a:buChar char="●"/>
            </a:pPr>
            <a:r>
              <a:rPr lang="cs" sz="2219"/>
              <a:t>Přínos pro </a:t>
            </a:r>
            <a:r>
              <a:rPr b="1" lang="cs" sz="2219"/>
              <a:t>kulturní psychoanalýzu</a:t>
            </a:r>
            <a:r>
              <a:rPr lang="cs" sz="2219"/>
              <a:t>: kultura a mezilidské vztahy </a:t>
            </a:r>
            <a:r>
              <a:rPr b="1" lang="cs" sz="2219"/>
              <a:t>formují chování, emoce a osobnost</a:t>
            </a:r>
            <a:r>
              <a:rPr lang="cs" sz="2219"/>
              <a:t>.</a:t>
            </a:r>
            <a:endParaRPr sz="2219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hift">
  <a:themeElements>
    <a:clrScheme name="Shift">
      <a:dk1>
        <a:srgbClr val="FFFFFF"/>
      </a:dk1>
      <a:lt1>
        <a:srgbClr val="AF7B51"/>
      </a:lt1>
      <a:dk2>
        <a:srgbClr val="233A44"/>
      </a:dk2>
      <a:lt2>
        <a:srgbClr val="D9D9D9"/>
      </a:lt2>
      <a:accent1>
        <a:srgbClr val="00796B"/>
      </a:accent1>
      <a:accent2>
        <a:srgbClr val="D9563F"/>
      </a:accent2>
      <a:accent3>
        <a:srgbClr val="C4A15A"/>
      </a:accent3>
      <a:accent4>
        <a:srgbClr val="14F597"/>
      </a:accent4>
      <a:accent5>
        <a:srgbClr val="3D4594"/>
      </a:accent5>
      <a:accent6>
        <a:srgbClr val="163EF5"/>
      </a:accent6>
      <a:hlink>
        <a:srgbClr val="3D4594"/>
      </a:hlink>
      <a:folHlink>
        <a:srgbClr val="3D459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