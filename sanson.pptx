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Náze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 a datum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a datum</a:t>
            </a:r>
          </a:p>
        </p:txBody>
      </p:sp>
      <p:sp>
        <p:nvSpPr>
          <p:cNvPr id="12" name="Název prezentac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Název prezentace</a:t>
            </a:r>
          </a:p>
        </p:txBody>
      </p:sp>
      <p:sp>
        <p:nvSpPr>
          <p:cNvPr id="13" name="Text úrovně 1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Podtitul prezentace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 a 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káda a limetky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Název prezentac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Název prezentace</a:t>
            </a:r>
          </a:p>
        </p:txBody>
      </p:sp>
      <p:sp>
        <p:nvSpPr>
          <p:cNvPr id="23" name="Autor a datum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a datum</a:t>
            </a:r>
          </a:p>
        </p:txBody>
      </p:sp>
      <p:sp>
        <p:nvSpPr>
          <p:cNvPr id="24" name="Text úrovně 1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Podtitul prezentace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lternativní název a 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ísa s lososovými koláčky, salátem a humusem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Název snímku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Název snímku</a:t>
            </a:r>
          </a:p>
        </p:txBody>
      </p:sp>
      <p:sp>
        <p:nvSpPr>
          <p:cNvPr id="34" name="Text úrovně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Podtitul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Číslo snímku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 a odráž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ázev snímku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43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44" name="Text úrovně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dráž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úrovně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, odrážky, 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61" name="Text úrovně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Mísa těstovin pappardelle s petrželovým máslem, praženými lískovými oříšky a strouhaným parmazánem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Název snímku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6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, odrážky a živé video – mal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72" name="Text úrovně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Název snímku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7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, odrážky a živé video – velk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82" name="Text úrovně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Název snímku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8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ddí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Název oddílu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Název oddílu</a:t>
            </a:r>
          </a:p>
        </p:txBody>
      </p:sp>
      <p:sp>
        <p:nvSpPr>
          <p:cNvPr id="92" name="Číslo snímku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Jen náze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ázev snímku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100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101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Název programu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programu</a:t>
            </a:r>
          </a:p>
        </p:txBody>
      </p:sp>
      <p:sp>
        <p:nvSpPr>
          <p:cNvPr id="109" name="Program – podtitul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Program – podtitul</a:t>
            </a:r>
          </a:p>
        </p:txBody>
      </p:sp>
      <p:sp>
        <p:nvSpPr>
          <p:cNvPr id="110" name="Text úrovně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Body programu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ý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úrovně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Výpis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ůležitý f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úrovně 1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100 %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Více o faktu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Více o faktu</a:t>
            </a:r>
          </a:p>
        </p:txBody>
      </p:sp>
      <p:sp>
        <p:nvSpPr>
          <p:cNvPr id="128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tá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Zdroj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Zdroj</a:t>
            </a:r>
          </a:p>
        </p:txBody>
      </p:sp>
      <p:sp>
        <p:nvSpPr>
          <p:cNvPr id="136" name="Text úrovně 1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„Význačný citát“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ky – 3 na výšk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Miska salátu se smaženou rýží, vařenými vejci a jídelními hůlkami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Mísa s lososovými koláčky, salátem a humusem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Mísa těstovin pappardelle s petrželovým máslem, praženými lískovými oříšky a strouhaným parmazánem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miska salátu se smaženou rýží, vařenými vejci a jídelními hůlkami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ázev snímku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Název snímku</a:t>
            </a:r>
          </a:p>
        </p:txBody>
      </p:sp>
      <p:sp>
        <p:nvSpPr>
          <p:cNvPr id="3" name="Text úrovně 1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Číslo snímku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or a datum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2" name="ŠANSON"/>
          <p:cNvSpPr txBox="1"/>
          <p:nvPr>
            <p:ph type="ctrTitle"/>
          </p:nvPr>
        </p:nvSpPr>
        <p:spPr>
          <a:xfrm>
            <a:off x="2586708" y="2574991"/>
            <a:ext cx="21800841" cy="4648201"/>
          </a:xfrm>
          <a:prstGeom prst="rect">
            <a:avLst/>
          </a:prstGeom>
        </p:spPr>
        <p:txBody>
          <a:bodyPr/>
          <a:lstStyle>
            <a:lvl1pPr>
              <a:defRPr b="0" spc="-300" sz="15000">
                <a:solidFill>
                  <a:srgbClr val="FFFFFF"/>
                </a:solidFill>
              </a:defRPr>
            </a:lvl1pPr>
          </a:lstStyle>
          <a:p>
            <a:pPr/>
            <a:r>
              <a:t>ŠANSON</a:t>
            </a:r>
          </a:p>
        </p:txBody>
      </p:sp>
      <p:sp>
        <p:nvSpPr>
          <p:cNvPr id="173" name="Marie Olahová"/>
          <p:cNvSpPr txBox="1"/>
          <p:nvPr>
            <p:ph type="subTitle" sz="quarter" idx="1"/>
          </p:nvPr>
        </p:nvSpPr>
        <p:spPr>
          <a:xfrm>
            <a:off x="2846253" y="7733680"/>
            <a:ext cx="20326090" cy="13945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Marie Olahová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ůvod: Francie (chanson = píseň)…"/>
          <p:cNvSpPr txBox="1"/>
          <p:nvPr>
            <p:ph type="body" sz="half" idx="1"/>
          </p:nvPr>
        </p:nvSpPr>
        <p:spPr>
          <a:xfrm>
            <a:off x="1584640" y="4194815"/>
            <a:ext cx="15980503" cy="8256630"/>
          </a:xfrm>
          <a:prstGeom prst="rect">
            <a:avLst/>
          </a:prstGeom>
        </p:spPr>
        <p:txBody>
          <a:bodyPr/>
          <a:lstStyle/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Původ: Francie (chanson = píseň)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Důraz na text a příběh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Interpret = vypravěč/herec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Spojení hudby a poezie</a:t>
            </a:r>
          </a:p>
        </p:txBody>
      </p:sp>
      <p:sp>
        <p:nvSpPr>
          <p:cNvPr id="176" name="CO JE TO ŠANSON?"/>
          <p:cNvSpPr txBox="1"/>
          <p:nvPr>
            <p:ph type="title"/>
          </p:nvPr>
        </p:nvSpPr>
        <p:spPr>
          <a:xfrm>
            <a:off x="1849338" y="1177206"/>
            <a:ext cx="11309835" cy="2610086"/>
          </a:xfrm>
          <a:prstGeom prst="rect">
            <a:avLst/>
          </a:prstGeom>
        </p:spPr>
        <p:txBody>
          <a:bodyPr/>
          <a:lstStyle/>
          <a:p>
            <a:pPr defTabSz="1633687">
              <a:defRPr spc="-160" sz="8040" u="sng">
                <a:solidFill>
                  <a:srgbClr val="FFFFFF"/>
                </a:solidFill>
              </a:defRPr>
            </a:pPr>
            <a:r>
              <a:rPr spc="-187" sz="9380"/>
              <a:t>CO JE TO ŠANSON</a:t>
            </a:r>
            <a:r>
              <a:t>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tředověk: Trubadúři…"/>
          <p:cNvSpPr txBox="1"/>
          <p:nvPr>
            <p:ph type="body" idx="1"/>
          </p:nvPr>
        </p:nvSpPr>
        <p:spPr>
          <a:xfrm>
            <a:off x="1206500" y="4248504"/>
            <a:ext cx="16906947" cy="8256630"/>
          </a:xfrm>
          <a:prstGeom prst="rect">
            <a:avLst/>
          </a:prstGeom>
        </p:spPr>
        <p:txBody>
          <a:bodyPr/>
          <a:lstStyle/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Středověk: Trubadúři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19. století: pařížské kabarety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Rozkvět: polovina 20. století </a:t>
            </a:r>
          </a:p>
          <a:p>
            <a:pPr marL="1219200" indent="-1219200" defTabSz="1950671">
              <a:spcBef>
                <a:spcPts val="3600"/>
              </a:spcBef>
              <a:defRPr sz="5120">
                <a:solidFill>
                  <a:srgbClr val="FFFFFF"/>
                </a:solidFill>
              </a:defRPr>
            </a:pPr>
            <a:r>
              <a:rPr sz="9600"/>
              <a:t>Původně ,,píseň ulice</a:t>
            </a:r>
            <a:r>
              <a:t>”</a:t>
            </a:r>
          </a:p>
        </p:txBody>
      </p:sp>
      <p:sp>
        <p:nvSpPr>
          <p:cNvPr id="179" name="HISTORIE A PŮVOD"/>
          <p:cNvSpPr txBox="1"/>
          <p:nvPr>
            <p:ph type="title"/>
          </p:nvPr>
        </p:nvSpPr>
        <p:spPr>
          <a:xfrm>
            <a:off x="1206500" y="1079500"/>
            <a:ext cx="11466991" cy="1682819"/>
          </a:xfrm>
          <a:prstGeom prst="rect">
            <a:avLst/>
          </a:prstGeom>
        </p:spPr>
        <p:txBody>
          <a:bodyPr/>
          <a:lstStyle>
            <a:lvl1pPr defTabSz="1682453">
              <a:defRPr spc="-193" sz="9660" u="sng">
                <a:solidFill>
                  <a:srgbClr val="FFFFFF"/>
                </a:solidFill>
              </a:defRPr>
            </a:lvl1pPr>
          </a:lstStyle>
          <a:p>
            <a:pPr/>
            <a:r>
              <a:t>HISTORIE A PŮVOD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řednes: expresivita, šepot, recitace…"/>
          <p:cNvSpPr txBox="1"/>
          <p:nvPr>
            <p:ph type="body" idx="1"/>
          </p:nvPr>
        </p:nvSpPr>
        <p:spPr>
          <a:xfrm>
            <a:off x="1206500" y="4248504"/>
            <a:ext cx="18268251" cy="8256630"/>
          </a:xfrm>
          <a:prstGeom prst="rect">
            <a:avLst/>
          </a:prstGeom>
        </p:spPr>
        <p:txBody>
          <a:bodyPr/>
          <a:lstStyle/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Přednes: expresivita, šepot, recitace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Gesta a výrazná mimika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Minimalistický doprovod: Klavír, akordeon, kytara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Priorita sdělení nad melodií</a:t>
            </a:r>
          </a:p>
        </p:txBody>
      </p:sp>
      <p:sp>
        <p:nvSpPr>
          <p:cNvPr id="182" name="JAK HO POZNÁME?"/>
          <p:cNvSpPr txBox="1"/>
          <p:nvPr>
            <p:ph type="title"/>
          </p:nvPr>
        </p:nvSpPr>
        <p:spPr>
          <a:xfrm>
            <a:off x="1622454" y="1018565"/>
            <a:ext cx="12161556" cy="1547180"/>
          </a:xfrm>
          <a:prstGeom prst="rect">
            <a:avLst/>
          </a:prstGeom>
        </p:spPr>
        <p:txBody>
          <a:bodyPr/>
          <a:lstStyle>
            <a:lvl1pPr defTabSz="1633687">
              <a:defRPr spc="-187" sz="9380" u="sng">
                <a:solidFill>
                  <a:srgbClr val="FFFFFF"/>
                </a:solidFill>
              </a:defRPr>
            </a:lvl1pPr>
          </a:lstStyle>
          <a:p>
            <a:pPr/>
            <a:r>
              <a:t>JAK HO POZNÁME?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Láska (vášeň i zklamání)…"/>
          <p:cNvSpPr txBox="1"/>
          <p:nvPr>
            <p:ph type="body" idx="1"/>
          </p:nvPr>
        </p:nvSpPr>
        <p:spPr>
          <a:xfrm>
            <a:off x="1206500" y="4248504"/>
            <a:ext cx="18154809" cy="8256630"/>
          </a:xfrm>
          <a:prstGeom prst="rect">
            <a:avLst/>
          </a:prstGeom>
        </p:spPr>
        <p:txBody>
          <a:bodyPr/>
          <a:lstStyle/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Láska (vášeň i zklamání)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Život na okraji společnosti 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Melancholie, smutek, nostalgie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Každodenní realita a lidské osudz</a:t>
            </a:r>
          </a:p>
        </p:txBody>
      </p:sp>
      <p:sp>
        <p:nvSpPr>
          <p:cNvPr id="185" name="TÉMATA ŠANSONU"/>
          <p:cNvSpPr txBox="1"/>
          <p:nvPr>
            <p:ph type="title"/>
          </p:nvPr>
        </p:nvSpPr>
        <p:spPr>
          <a:xfrm>
            <a:off x="1206500" y="1079500"/>
            <a:ext cx="12596467" cy="1663309"/>
          </a:xfrm>
          <a:prstGeom prst="rect">
            <a:avLst/>
          </a:prstGeom>
        </p:spPr>
        <p:txBody>
          <a:bodyPr/>
          <a:lstStyle>
            <a:lvl1pPr defTabSz="1804370">
              <a:defRPr spc="-207" sz="10360" u="sng">
                <a:solidFill>
                  <a:srgbClr val="FFFFFF"/>
                </a:solidFill>
              </a:defRPr>
            </a:lvl1pPr>
          </a:lstStyle>
          <a:p>
            <a:pPr/>
            <a:r>
              <a:t>TÉMATA ŠANSONU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Ikona žánru, přezdívka vrabčák…"/>
          <p:cNvSpPr txBox="1"/>
          <p:nvPr>
            <p:ph type="body" sz="half" idx="1"/>
          </p:nvPr>
        </p:nvSpPr>
        <p:spPr>
          <a:xfrm>
            <a:off x="1206499" y="4248504"/>
            <a:ext cx="14864989" cy="8256630"/>
          </a:xfrm>
          <a:prstGeom prst="rect">
            <a:avLst/>
          </a:prstGeom>
        </p:spPr>
        <p:txBody>
          <a:bodyPr/>
          <a:lstStyle/>
          <a:p>
            <a:pPr marL="914400" indent="-914400" defTabSz="1463003">
              <a:spcBef>
                <a:spcPts val="2700"/>
              </a:spcBef>
              <a:defRPr sz="7200">
                <a:solidFill>
                  <a:srgbClr val="FFFFFF"/>
                </a:solidFill>
              </a:defRPr>
            </a:pPr>
            <a:r>
              <a:t>Ikona žánru, přezdívka vrabčák</a:t>
            </a:r>
          </a:p>
          <a:p>
            <a:pPr marL="914400" indent="-914400" defTabSz="1463003">
              <a:spcBef>
                <a:spcPts val="2700"/>
              </a:spcBef>
              <a:defRPr sz="7200">
                <a:solidFill>
                  <a:srgbClr val="FFFFFF"/>
                </a:solidFill>
              </a:defRPr>
            </a:pPr>
            <a:r>
              <a:t>Symbol francouzské kultury</a:t>
            </a:r>
          </a:p>
          <a:p>
            <a:pPr marL="914400" indent="-914400" defTabSz="1463003">
              <a:spcBef>
                <a:spcPts val="2700"/>
              </a:spcBef>
              <a:defRPr sz="7200">
                <a:solidFill>
                  <a:srgbClr val="FFFFFF"/>
                </a:solidFill>
              </a:defRPr>
            </a:pPr>
            <a:r>
              <a:t>Drsný osud (ulice, chudoba)</a:t>
            </a:r>
          </a:p>
          <a:p>
            <a:pPr marL="914400" indent="-914400" defTabSz="1463003">
              <a:spcBef>
                <a:spcPts val="2700"/>
              </a:spcBef>
              <a:defRPr sz="7200">
                <a:solidFill>
                  <a:srgbClr val="FFFFFF"/>
                </a:solidFill>
              </a:defRPr>
            </a:pPr>
            <a:r>
              <a:t>Nejslavnější hity: Non, je ne regrette rien (Ničeho nelituj), La Vie en rose (Život v růžovém), Padam…</a:t>
            </a:r>
          </a:p>
        </p:txBody>
      </p:sp>
      <p:sp>
        <p:nvSpPr>
          <p:cNvPr id="188" name="EDITH PIAF (1915-1963)"/>
          <p:cNvSpPr txBox="1"/>
          <p:nvPr>
            <p:ph type="title"/>
          </p:nvPr>
        </p:nvSpPr>
        <p:spPr>
          <a:xfrm>
            <a:off x="1130871" y="1155128"/>
            <a:ext cx="14236619" cy="2089271"/>
          </a:xfrm>
          <a:prstGeom prst="rect">
            <a:avLst/>
          </a:prstGeom>
        </p:spPr>
        <p:txBody>
          <a:bodyPr/>
          <a:lstStyle>
            <a:lvl1pPr defTabSz="1779987">
              <a:defRPr spc="-204" sz="10220" u="sng">
                <a:solidFill>
                  <a:srgbClr val="FFFFFF"/>
                </a:solidFill>
              </a:defRPr>
            </a:lvl1pPr>
          </a:lstStyle>
          <a:p>
            <a:pPr/>
            <a:r>
              <a:t>EDITH PIAF (1915-1963)</a:t>
            </a:r>
          </a:p>
        </p:txBody>
      </p:sp>
      <p:pic>
        <p:nvPicPr>
          <p:cNvPr id="189" name="Unknown (2).jpg" descr="Unknown (2).jp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5644196" y="2027074"/>
            <a:ext cx="8284007" cy="9940808"/>
          </a:xfrm>
          <a:prstGeom prst="rect">
            <a:avLst/>
          </a:prstGeom>
          <a:ln w="12700">
            <a:miter lim="400000"/>
          </a:ln>
        </p:spPr>
      </p:pic>
      <p:sp>
        <p:nvSpPr>
          <p:cNvPr id="190" name="Zdroj: https://cz.pinterest.com/pin/52987733113835278/"/>
          <p:cNvSpPr txBox="1"/>
          <p:nvPr/>
        </p:nvSpPr>
        <p:spPr>
          <a:xfrm>
            <a:off x="14982358" y="12190978"/>
            <a:ext cx="9607683" cy="146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Zdroj: https://cz.pinterest.com/pin/52987733113835278/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harles Aznavour - La Bohème…"/>
          <p:cNvSpPr txBox="1"/>
          <p:nvPr>
            <p:ph type="body" sz="half" idx="1"/>
          </p:nvPr>
        </p:nvSpPr>
        <p:spPr>
          <a:xfrm>
            <a:off x="1206500" y="3870364"/>
            <a:ext cx="15885967" cy="8256630"/>
          </a:xfrm>
          <a:prstGeom prst="rect">
            <a:avLst/>
          </a:prstGeom>
        </p:spPr>
        <p:txBody>
          <a:bodyPr/>
          <a:lstStyle/>
          <a:p>
            <a:pPr marL="1203960" indent="-1203960" defTabSz="1926287">
              <a:spcBef>
                <a:spcPts val="3500"/>
              </a:spcBef>
              <a:defRPr sz="9480">
                <a:solidFill>
                  <a:srgbClr val="FFFFFF"/>
                </a:solidFill>
              </a:defRPr>
            </a:pPr>
            <a:r>
              <a:t>Charles Aznavour - La Bohème</a:t>
            </a:r>
          </a:p>
          <a:p>
            <a:pPr marL="1203960" indent="-1203960" defTabSz="1926287">
              <a:spcBef>
                <a:spcPts val="3500"/>
              </a:spcBef>
              <a:defRPr sz="9480">
                <a:solidFill>
                  <a:srgbClr val="FFFFFF"/>
                </a:solidFill>
              </a:defRPr>
            </a:pPr>
            <a:r>
              <a:t>Jacques Brel - Ne me quitte pas (Neopouštěj mě)</a:t>
            </a:r>
          </a:p>
          <a:p>
            <a:pPr marL="1203960" indent="-1203960" defTabSz="1926287">
              <a:spcBef>
                <a:spcPts val="3500"/>
              </a:spcBef>
              <a:defRPr sz="9480">
                <a:solidFill>
                  <a:srgbClr val="FFFFFF"/>
                </a:solidFill>
              </a:defRPr>
            </a:pPr>
            <a:r>
              <a:t>Gilbert Bècaud - Nathalie</a:t>
            </a:r>
          </a:p>
        </p:txBody>
      </p:sp>
      <p:sp>
        <p:nvSpPr>
          <p:cNvPr id="193" name="DALŠÍ SVĚTOVÍ ŠANSONIÉŘI"/>
          <p:cNvSpPr txBox="1"/>
          <p:nvPr>
            <p:ph type="title"/>
          </p:nvPr>
        </p:nvSpPr>
        <p:spPr>
          <a:xfrm>
            <a:off x="1698082" y="444923"/>
            <a:ext cx="14300545" cy="2694464"/>
          </a:xfrm>
          <a:prstGeom prst="rect">
            <a:avLst/>
          </a:prstGeom>
        </p:spPr>
        <p:txBody>
          <a:bodyPr/>
          <a:lstStyle>
            <a:lvl1pPr defTabSz="1901904">
              <a:defRPr spc="-187" sz="9360">
                <a:solidFill>
                  <a:srgbClr val="FFFFFF"/>
                </a:solidFill>
              </a:defRPr>
            </a:lvl1pPr>
          </a:lstStyle>
          <a:p>
            <a:pPr/>
            <a:r>
              <a:t>DALŠÍ SVĚTOVÍ ŠANSONIÉŘI</a:t>
            </a:r>
          </a:p>
        </p:txBody>
      </p:sp>
      <p:sp>
        <p:nvSpPr>
          <p:cNvPr id="194" name="Kresba"/>
          <p:cNvSpPr/>
          <p:nvPr/>
        </p:nvSpPr>
        <p:spPr>
          <a:xfrm>
            <a:off x="15474596" y="-6935866"/>
            <a:ext cx="558555" cy="7910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70" h="21518" fill="norm" stroke="1" extrusionOk="0">
                <a:moveTo>
                  <a:pt x="6150" y="21518"/>
                </a:moveTo>
                <a:cubicBezTo>
                  <a:pt x="4470" y="16032"/>
                  <a:pt x="2790" y="10547"/>
                  <a:pt x="1590" y="6947"/>
                </a:cubicBezTo>
                <a:cubicBezTo>
                  <a:pt x="390" y="3347"/>
                  <a:pt x="-330" y="1632"/>
                  <a:pt x="150" y="775"/>
                </a:cubicBezTo>
                <a:cubicBezTo>
                  <a:pt x="630" y="-82"/>
                  <a:pt x="2310" y="-82"/>
                  <a:pt x="6030" y="89"/>
                </a:cubicBezTo>
                <a:cubicBezTo>
                  <a:pt x="9750" y="261"/>
                  <a:pt x="15510" y="604"/>
                  <a:pt x="21270" y="947"/>
                </a:cubicBezTo>
                <a:close/>
              </a:path>
            </a:pathLst>
          </a:custGeom>
          <a:solidFill>
            <a:srgbClr val="FCD02F"/>
          </a:solidFill>
          <a:ln w="12700">
            <a:miter lim="400000"/>
          </a:ln>
        </p:spPr>
        <p:txBody>
          <a:bodyPr lIns="0" tIns="0" rIns="0" bIns="0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200"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Královna československého šansonu…"/>
          <p:cNvSpPr txBox="1"/>
          <p:nvPr>
            <p:ph type="body" idx="1"/>
          </p:nvPr>
        </p:nvSpPr>
        <p:spPr>
          <a:xfrm>
            <a:off x="1660268" y="4360498"/>
            <a:ext cx="15146301" cy="9074112"/>
          </a:xfrm>
          <a:prstGeom prst="rect">
            <a:avLst/>
          </a:prstGeom>
        </p:spPr>
        <p:txBody>
          <a:bodyPr/>
          <a:lstStyle/>
          <a:p>
            <a:pPr marL="958596" indent="-958596" defTabSz="1658070">
              <a:spcBef>
                <a:spcPts val="3000"/>
              </a:spcBef>
              <a:defRPr sz="7548">
                <a:solidFill>
                  <a:srgbClr val="FFFFFF"/>
                </a:solidFill>
              </a:defRPr>
            </a:pPr>
            <a:r>
              <a:t>Královna československého šansonu</a:t>
            </a:r>
          </a:p>
          <a:p>
            <a:pPr marL="958596" indent="-958596" defTabSz="1658070">
              <a:spcBef>
                <a:spcPts val="3000"/>
              </a:spcBef>
              <a:defRPr sz="7548">
                <a:solidFill>
                  <a:srgbClr val="FFFFFF"/>
                </a:solidFill>
              </a:defRPr>
            </a:pPr>
            <a:r>
              <a:t>Původně herečka - každou píseň prožívala jako divadelní roli</a:t>
            </a:r>
          </a:p>
          <a:p>
            <a:pPr marL="958596" indent="-958596" defTabSz="1658070">
              <a:spcBef>
                <a:spcPts val="3000"/>
              </a:spcBef>
              <a:defRPr sz="7548">
                <a:solidFill>
                  <a:srgbClr val="FFFFFF"/>
                </a:solidFill>
              </a:defRPr>
            </a:pPr>
            <a:r>
              <a:t>Vystupovala v pařížské Olympii</a:t>
            </a:r>
          </a:p>
          <a:p>
            <a:pPr marL="958596" indent="-958596" defTabSz="1658070">
              <a:spcBef>
                <a:spcPts val="3000"/>
              </a:spcBef>
              <a:defRPr sz="7548">
                <a:solidFill>
                  <a:srgbClr val="FFFFFF"/>
                </a:solidFill>
              </a:defRPr>
            </a:pPr>
            <a:r>
              <a:t>Největší hity: Čerešně, Potměšilý host, Levandulová</a:t>
            </a:r>
          </a:p>
        </p:txBody>
      </p:sp>
      <p:sp>
        <p:nvSpPr>
          <p:cNvPr id="197" name="HANA HEGEROVÁ (1931-2021)"/>
          <p:cNvSpPr txBox="1"/>
          <p:nvPr>
            <p:ph type="title"/>
          </p:nvPr>
        </p:nvSpPr>
        <p:spPr>
          <a:xfrm>
            <a:off x="2265292" y="701359"/>
            <a:ext cx="13257893" cy="2607336"/>
          </a:xfrm>
          <a:prstGeom prst="rect">
            <a:avLst/>
          </a:prstGeom>
        </p:spPr>
        <p:txBody>
          <a:bodyPr/>
          <a:lstStyle/>
          <a:p>
            <a:pPr defTabSz="1804370">
              <a:defRPr spc="-125" sz="6290">
                <a:solidFill>
                  <a:srgbClr val="FFFFFF"/>
                </a:solidFill>
              </a:defRPr>
            </a:pPr>
            <a:r>
              <a:rPr spc="-164" sz="8214"/>
              <a:t> </a:t>
            </a:r>
            <a:r>
              <a:rPr spc="-177" sz="8880"/>
              <a:t>HANA HEGEROVÁ (1931-2021)</a:t>
            </a:r>
          </a:p>
        </p:txBody>
      </p:sp>
      <p:grpSp>
        <p:nvGrpSpPr>
          <p:cNvPr id="200" name="Kresba"/>
          <p:cNvGrpSpPr/>
          <p:nvPr/>
        </p:nvGrpSpPr>
        <p:grpSpPr>
          <a:xfrm>
            <a:off x="17322453" y="14804192"/>
            <a:ext cx="4012633" cy="7002025"/>
            <a:chOff x="-1621740" y="-207977"/>
            <a:chExt cx="4012631" cy="7002023"/>
          </a:xfrm>
        </p:grpSpPr>
        <p:sp>
          <p:nvSpPr>
            <p:cNvPr id="198" name="Tvar"/>
            <p:cNvSpPr/>
            <p:nvPr/>
          </p:nvSpPr>
          <p:spPr>
            <a:xfrm>
              <a:off x="-156787" y="0"/>
              <a:ext cx="2547679" cy="67940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4" h="21580" fill="norm" stroke="1" extrusionOk="0">
                  <a:moveTo>
                    <a:pt x="1326" y="0"/>
                  </a:moveTo>
                  <a:cubicBezTo>
                    <a:pt x="795" y="661"/>
                    <a:pt x="264" y="1321"/>
                    <a:pt x="79" y="2062"/>
                  </a:cubicBezTo>
                  <a:cubicBezTo>
                    <a:pt x="-107" y="2803"/>
                    <a:pt x="52" y="3623"/>
                    <a:pt x="397" y="4444"/>
                  </a:cubicBezTo>
                  <a:cubicBezTo>
                    <a:pt x="742" y="5265"/>
                    <a:pt x="1273" y="6086"/>
                    <a:pt x="1857" y="6866"/>
                  </a:cubicBezTo>
                  <a:cubicBezTo>
                    <a:pt x="2440" y="7647"/>
                    <a:pt x="3077" y="8388"/>
                    <a:pt x="3741" y="9118"/>
                  </a:cubicBezTo>
                  <a:cubicBezTo>
                    <a:pt x="4404" y="9849"/>
                    <a:pt x="5094" y="10570"/>
                    <a:pt x="5864" y="11200"/>
                  </a:cubicBezTo>
                  <a:cubicBezTo>
                    <a:pt x="6633" y="11831"/>
                    <a:pt x="7482" y="12371"/>
                    <a:pt x="8676" y="12902"/>
                  </a:cubicBezTo>
                  <a:cubicBezTo>
                    <a:pt x="9870" y="13432"/>
                    <a:pt x="11409" y="13953"/>
                    <a:pt x="12736" y="14503"/>
                  </a:cubicBezTo>
                  <a:cubicBezTo>
                    <a:pt x="14063" y="15054"/>
                    <a:pt x="15178" y="15634"/>
                    <a:pt x="16133" y="16225"/>
                  </a:cubicBezTo>
                  <a:cubicBezTo>
                    <a:pt x="17088" y="16816"/>
                    <a:pt x="17884" y="17416"/>
                    <a:pt x="18654" y="18067"/>
                  </a:cubicBezTo>
                  <a:cubicBezTo>
                    <a:pt x="19423" y="18717"/>
                    <a:pt x="20166" y="19418"/>
                    <a:pt x="20644" y="20139"/>
                  </a:cubicBezTo>
                  <a:cubicBezTo>
                    <a:pt x="21122" y="20859"/>
                    <a:pt x="21334" y="21600"/>
                    <a:pt x="21413" y="21580"/>
                  </a:cubicBezTo>
                  <a:cubicBezTo>
                    <a:pt x="21493" y="21560"/>
                    <a:pt x="21440" y="20779"/>
                    <a:pt x="21387" y="19999"/>
                  </a:cubicBezTo>
                  <a:close/>
                </a:path>
              </a:pathLst>
            </a:custGeom>
            <a:solidFill>
              <a:srgbClr val="FCD02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defTabSz="457200">
                <a:lnSpc>
                  <a:spcPct val="100000"/>
                </a:lnSpc>
                <a:spcBef>
                  <a:spcPts val="0"/>
                </a:spcBef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199" name="Tvar"/>
            <p:cNvSpPr/>
            <p:nvPr/>
          </p:nvSpPr>
          <p:spPr>
            <a:xfrm>
              <a:off x="-1621741" y="-207978"/>
              <a:ext cx="2277820" cy="61888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06" h="21600" fill="norm" stroke="1" extrusionOk="0">
                  <a:moveTo>
                    <a:pt x="4428" y="0"/>
                  </a:moveTo>
                  <a:cubicBezTo>
                    <a:pt x="3119" y="264"/>
                    <a:pt x="1810" y="528"/>
                    <a:pt x="1007" y="792"/>
                  </a:cubicBezTo>
                  <a:cubicBezTo>
                    <a:pt x="204" y="1056"/>
                    <a:pt x="-94" y="1320"/>
                    <a:pt x="25" y="1771"/>
                  </a:cubicBezTo>
                  <a:cubicBezTo>
                    <a:pt x="144" y="2222"/>
                    <a:pt x="680" y="2859"/>
                    <a:pt x="1275" y="3541"/>
                  </a:cubicBezTo>
                  <a:cubicBezTo>
                    <a:pt x="1870" y="4223"/>
                    <a:pt x="2524" y="4949"/>
                    <a:pt x="3089" y="5631"/>
                  </a:cubicBezTo>
                  <a:cubicBezTo>
                    <a:pt x="3655" y="6313"/>
                    <a:pt x="4131" y="6951"/>
                    <a:pt x="4845" y="7567"/>
                  </a:cubicBezTo>
                  <a:cubicBezTo>
                    <a:pt x="5559" y="8182"/>
                    <a:pt x="6511" y="8776"/>
                    <a:pt x="7493" y="9447"/>
                  </a:cubicBezTo>
                  <a:cubicBezTo>
                    <a:pt x="8475" y="10118"/>
                    <a:pt x="9486" y="10866"/>
                    <a:pt x="10438" y="11625"/>
                  </a:cubicBezTo>
                  <a:cubicBezTo>
                    <a:pt x="11390" y="12384"/>
                    <a:pt x="12283" y="13154"/>
                    <a:pt x="13146" y="13901"/>
                  </a:cubicBezTo>
                  <a:cubicBezTo>
                    <a:pt x="14008" y="14649"/>
                    <a:pt x="14842" y="15375"/>
                    <a:pt x="15615" y="16145"/>
                  </a:cubicBezTo>
                  <a:cubicBezTo>
                    <a:pt x="16389" y="16915"/>
                    <a:pt x="17103" y="17729"/>
                    <a:pt x="17787" y="18510"/>
                  </a:cubicBezTo>
                  <a:cubicBezTo>
                    <a:pt x="18471" y="19290"/>
                    <a:pt x="19126" y="20038"/>
                    <a:pt x="19602" y="20511"/>
                  </a:cubicBezTo>
                  <a:cubicBezTo>
                    <a:pt x="20078" y="20984"/>
                    <a:pt x="20375" y="21182"/>
                    <a:pt x="20643" y="21336"/>
                  </a:cubicBezTo>
                  <a:cubicBezTo>
                    <a:pt x="20911" y="21490"/>
                    <a:pt x="21149" y="21600"/>
                    <a:pt x="21298" y="21600"/>
                  </a:cubicBezTo>
                  <a:cubicBezTo>
                    <a:pt x="21446" y="21600"/>
                    <a:pt x="21506" y="21490"/>
                    <a:pt x="21506" y="21149"/>
                  </a:cubicBezTo>
                  <a:cubicBezTo>
                    <a:pt x="21506" y="20808"/>
                    <a:pt x="21446" y="20236"/>
                    <a:pt x="21387" y="19664"/>
                  </a:cubicBezTo>
                  <a:close/>
                </a:path>
              </a:pathLst>
            </a:custGeom>
            <a:solidFill>
              <a:srgbClr val="FCD02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defTabSz="457200">
                <a:lnSpc>
                  <a:spcPct val="100000"/>
                </a:lnSpc>
                <a:spcBef>
                  <a:spcPts val="0"/>
                </a:spcBef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pic>
        <p:nvPicPr>
          <p:cNvPr id="201" name="IMG_0004.jpeg" descr="IMG_0004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028698" y="1023695"/>
            <a:ext cx="6868985" cy="9929164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Zdroj: https://www.knihyantik.eu/pohlednice/7800-hana-hegerova.html"/>
          <p:cNvSpPr txBox="1"/>
          <p:nvPr/>
        </p:nvSpPr>
        <p:spPr>
          <a:xfrm>
            <a:off x="16952328" y="11329353"/>
            <a:ext cx="7021725" cy="16557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700">
                <a:solidFill>
                  <a:srgbClr val="FFFFFF"/>
                </a:solidFill>
              </a:defRPr>
            </a:lvl1pPr>
          </a:lstStyle>
          <a:p>
            <a:pPr/>
            <a:r>
              <a:t>Zdroj: https://www.knihyantik.eu/pohlednice/7800-hana-hegerova.html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NATA DRÖSSLER…"/>
          <p:cNvSpPr txBox="1"/>
          <p:nvPr>
            <p:ph type="body" sz="half" idx="1"/>
          </p:nvPr>
        </p:nvSpPr>
        <p:spPr>
          <a:xfrm>
            <a:off x="921273" y="4547922"/>
            <a:ext cx="10707066" cy="7550416"/>
          </a:xfrm>
          <a:prstGeom prst="rect">
            <a:avLst/>
          </a:prstGeom>
        </p:spPr>
        <p:txBody>
          <a:bodyPr/>
          <a:lstStyle/>
          <a:p>
            <a:pPr marL="1524000" indent="-1524000">
              <a:defRPr sz="12000">
                <a:solidFill>
                  <a:srgbClr val="FFFFFF"/>
                </a:solidFill>
              </a:defRPr>
            </a:pPr>
            <a:r>
              <a:t>RENATA DRÖSSLER</a:t>
            </a:r>
          </a:p>
          <a:p>
            <a:pPr marL="1524000" indent="-1524000">
              <a:defRPr sz="12000">
                <a:solidFill>
                  <a:srgbClr val="FFFFFF"/>
                </a:solidFill>
              </a:defRPr>
            </a:pPr>
            <a:r>
              <a:t>RADŮZA</a:t>
            </a:r>
          </a:p>
        </p:txBody>
      </p:sp>
      <p:sp>
        <p:nvSpPr>
          <p:cNvPr id="205" name="DALŠÍ ČESKÉ ŠANSONIÉRKY"/>
          <p:cNvSpPr txBox="1"/>
          <p:nvPr>
            <p:ph type="title"/>
          </p:nvPr>
        </p:nvSpPr>
        <p:spPr>
          <a:xfrm>
            <a:off x="1849338" y="734945"/>
            <a:ext cx="14969107" cy="2813955"/>
          </a:xfrm>
          <a:prstGeom prst="rect">
            <a:avLst/>
          </a:prstGeom>
        </p:spPr>
        <p:txBody>
          <a:bodyPr/>
          <a:lstStyle>
            <a:lvl1pPr defTabSz="1706837">
              <a:defRPr spc="-195" sz="9800" u="sng">
                <a:solidFill>
                  <a:srgbClr val="FFFFFF"/>
                </a:solidFill>
              </a:defRPr>
            </a:lvl1pPr>
          </a:lstStyle>
          <a:p>
            <a:pPr/>
            <a:r>
              <a:t>DALŠÍ ČESKÉ ŠANSONIÉRKY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