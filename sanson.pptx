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image/jpeg" PartName="/ppt/media/image1.jpeg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tags+xml" PartName="/ppt/tags/tag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13716000" cx="24384000"/>
  <p:notesSz cx="6858000" cy="9144000"/>
  <p:custDataLst>
    <p:tags r:id="rId14"/>
  </p:custDataLst>
  <p:defaultTextStyle>
    <a:defPPr defTabSz="914400" hangingPunct="0" indent="0" latinLnBrk="1" lvl="0" marL="0" marR="0" rtl="0" algn="l" fontAlgn="auto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i="0" kumimoji="0" normalizeH="0" spc="0" sz="1800" u="none" cap="none" strike="noStrike">
        <a:ln>
          <a:noFill/>
        </a:ln>
        <a:solidFill>
          <a:srgbClr val="000000"/>
        </a:solidFill>
        <a:effectLst/>
      </a:defRPr>
    </a:defPPr>
    <a:lvl1pPr defTabSz="2438338" hangingPunct="0" indent="0" latinLnBrk="0" lvl="0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1pPr>
    <a:lvl2pPr defTabSz="2438338" hangingPunct="0" indent="457200" latinLnBrk="0" lvl="1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2pPr>
    <a:lvl3pPr defTabSz="2438338" hangingPunct="0" indent="914400" latinLnBrk="0" lvl="2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3pPr>
    <a:lvl4pPr defTabSz="2438338" hangingPunct="0" indent="1371600" latinLnBrk="0" lvl="3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4pPr>
    <a:lvl5pPr defTabSz="2438338" hangingPunct="0" indent="1828800" latinLnBrk="0" lvl="4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5pPr>
    <a:lvl6pPr defTabSz="2438338" hangingPunct="0" indent="2286000" latinLnBrk="0" lvl="5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6pPr>
    <a:lvl7pPr defTabSz="2438338" hangingPunct="0" indent="2743200" latinLnBrk="0" lvl="6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7pPr>
    <a:lvl8pPr defTabSz="2438338" hangingPunct="0" indent="3200400" latinLnBrk="0" lvl="7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8pPr>
    <a:lvl9pPr defTabSz="2438338" hangingPunct="0" indent="3657600" latinLnBrk="0" lvl="8" marL="0" marR="0" rtl="0" algn="l" fontAlgn="auto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i="0" kumimoji="0" normalizeH="0" spc="0" sz="4800" u="none" cap="none" strike="noStrike">
        <a:ln>
          <a:noFill/>
        </a:ln>
        <a:solidFill>
          <a:srgbClr val="000000"/>
        </a:solidFill>
        <a:effectLst/>
        <a:latin typeface="+mn-lt"/>
        <a:ea typeface="+mn-ea"/>
        <a:cs typeface="+mn-cs"/>
        <a:sym typeface="Helvetica Neue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tags" Target="tags/tag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Náz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a datum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a datum</a:t>
            </a:r>
          </a:p>
        </p:txBody>
      </p:sp>
      <p:sp>
        <p:nvSpPr>
          <p:cNvPr id="12" name="Název prezentac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Název prezentace</a:t>
            </a:r>
          </a:p>
        </p:txBody>
      </p:sp>
      <p:sp>
        <p:nvSpPr>
          <p:cNvPr id="13" name="Text úrovně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Podtitul prezentace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ázev a fo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káda a limetky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Název prezentac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Název prezentace</a:t>
            </a:r>
          </a:p>
        </p:txBody>
      </p:sp>
      <p:sp>
        <p:nvSpPr>
          <p:cNvPr id="23" name="Autor a datum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Autor a datum</a:t>
            </a:r>
          </a:p>
        </p:txBody>
      </p:sp>
      <p:sp>
        <p:nvSpPr>
          <p:cNvPr id="24" name="Text úrovně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Podtitul prezentace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ternativní název a fo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ísa s lososovými koláčky, salátem a humusem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Název snímku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Název snímku</a:t>
            </a:r>
          </a:p>
        </p:txBody>
      </p:sp>
      <p:sp>
        <p:nvSpPr>
          <p:cNvPr id="34" name="Text úrovně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Podtitul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Číslo snímk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ázev a 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Název snímku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Název snímku</a:t>
            </a:r>
          </a:p>
        </p:txBody>
      </p:sp>
      <p:sp>
        <p:nvSpPr>
          <p:cNvPr id="43" name="Podtitul snímk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Podtitul snímku</a:t>
            </a:r>
          </a:p>
        </p:txBody>
      </p:sp>
      <p:sp>
        <p:nvSpPr>
          <p:cNvPr id="44" name="Text úrovně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dráž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úrovně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ázev, odrážky, fo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odtitul snímk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Podtitul snímku</a:t>
            </a:r>
          </a:p>
        </p:txBody>
      </p:sp>
      <p:sp>
        <p:nvSpPr>
          <p:cNvPr id="61" name="Text úrovně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Mísa těstovin pappardelle s petrželovým máslem, praženými lískovými oříšky a strouhaným parmazánem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Název snímk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Název snímku</a:t>
            </a:r>
          </a:p>
        </p:txBody>
      </p:sp>
      <p:sp>
        <p:nvSpPr>
          <p:cNvPr id="64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ázev, odrážky a živé video – ma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odtitul snímk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Podtitul snímku</a:t>
            </a:r>
          </a:p>
        </p:txBody>
      </p:sp>
      <p:sp>
        <p:nvSpPr>
          <p:cNvPr id="72" name="Text úrovně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Název snímk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Název snímku</a:t>
            </a:r>
          </a:p>
        </p:txBody>
      </p:sp>
      <p:sp>
        <p:nvSpPr>
          <p:cNvPr id="74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ázev, odrážky a živé video – velk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odtitul snímku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Podtitul snímku</a:t>
            </a:r>
          </a:p>
        </p:txBody>
      </p:sp>
      <p:sp>
        <p:nvSpPr>
          <p:cNvPr id="82" name="Text úrovně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Název snímku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Název snímku</a:t>
            </a:r>
          </a:p>
        </p:txBody>
      </p:sp>
      <p:sp>
        <p:nvSpPr>
          <p:cNvPr id="84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ddí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Název oddílu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Název oddílu</a:t>
            </a:r>
          </a:p>
        </p:txBody>
      </p:sp>
      <p:sp>
        <p:nvSpPr>
          <p:cNvPr id="92" name="Číslo snímku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Jen náz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ázev snímku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Název snímku</a:t>
            </a:r>
          </a:p>
        </p:txBody>
      </p:sp>
      <p:sp>
        <p:nvSpPr>
          <p:cNvPr id="100" name="Podtitul snímku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Podtitul snímku</a:t>
            </a:r>
          </a:p>
        </p:txBody>
      </p:sp>
      <p:sp>
        <p:nvSpPr>
          <p:cNvPr id="101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ázev programu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Název programu</a:t>
            </a:r>
          </a:p>
        </p:txBody>
      </p:sp>
      <p:sp>
        <p:nvSpPr>
          <p:cNvPr id="109" name="Program – podtitul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Program – podtitul</a:t>
            </a:r>
          </a:p>
        </p:txBody>
      </p:sp>
      <p:sp>
        <p:nvSpPr>
          <p:cNvPr id="110" name="Text úrovně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Body programu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ý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úrovně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Výpis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ůležitý f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úrovně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Více o faktu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Více o faktu</a:t>
            </a:r>
          </a:p>
        </p:txBody>
      </p:sp>
      <p:sp>
        <p:nvSpPr>
          <p:cNvPr id="128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á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Zdroj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Zdroj</a:t>
            </a:r>
          </a:p>
        </p:txBody>
      </p:sp>
      <p:sp>
        <p:nvSpPr>
          <p:cNvPr id="136" name="Text úrovně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„Význačný citát“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ky – 3 na výšk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Miska salátu se smaženou rýží, vařenými vejci a jídelními hůlkami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Mísa s lososovými koláčky, salátem a humusem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Mísa těstovin pappardelle s petrželovým máslem, praženými lískovými oříšky a strouhaným parmazánem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miska salátu se smaženou rýží, vařenými vejci a jídelními hůlkami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Číslo snímku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ázev snímku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Název snímku</a:t>
            </a:r>
          </a:p>
        </p:txBody>
      </p:sp>
      <p:sp>
        <p:nvSpPr>
          <p:cNvPr id="3" name="Text úrovně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Text s odrážkami na snímku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Číslo snímku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or a datum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ŠANSON"/>
          <p:cNvSpPr txBox="1"/>
          <p:nvPr>
            <p:ph type="ctrTitle"/>
          </p:nvPr>
        </p:nvSpPr>
        <p:spPr>
          <a:xfrm>
            <a:off x="2586708" y="2574991"/>
            <a:ext cx="21800841" cy="4648201"/>
          </a:xfrm>
          <a:prstGeom prst="rect">
            <a:avLst/>
          </a:prstGeom>
        </p:spPr>
        <p:txBody>
          <a:bodyPr/>
          <a:lstStyle>
            <a:lvl1pPr>
              <a:defRPr b="0" spc="-300" sz="15000">
                <a:solidFill>
                  <a:srgbClr val="FFFFFF"/>
                </a:solidFill>
              </a:defRPr>
            </a:lvl1pPr>
          </a:lstStyle>
          <a:p>
            <a:pPr/>
            <a:r>
              <a:t>ŠANSON</a:t>
            </a:r>
          </a:p>
        </p:txBody>
      </p:sp>
      <p:sp>
        <p:nvSpPr>
          <p:cNvPr id="173" name="Marie Olahová"/>
          <p:cNvSpPr txBox="1"/>
          <p:nvPr>
            <p:ph type="subTitle" sz="quarter" idx="1"/>
          </p:nvPr>
        </p:nvSpPr>
        <p:spPr>
          <a:xfrm>
            <a:off x="2846253" y="7733680"/>
            <a:ext cx="20326090" cy="139451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Marie Olahová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"/>
          <p:cNvSpPr txBox="1"/>
          <p:nvPr>
            <p:ph idx="1" type="body"/>
          </p:nvPr>
        </p:nvSpPr>
        <p:spPr>
          <a:xfrm>
            <a:off x="1584640" y="4194815"/>
            <a:ext cx="15980400" cy="8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1219200" lvl="0" marL="1219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Původ: Francie (chanson = píseň)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Důraz na text a příběh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Interpret = vypravěč/herec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Spojení hudby a poezie</a:t>
            </a:r>
            <a:endParaRPr/>
          </a:p>
        </p:txBody>
      </p:sp>
      <p:sp>
        <p:nvSpPr>
          <p:cNvPr id="209" name="Google Shape;209;p1"/>
          <p:cNvSpPr txBox="1"/>
          <p:nvPr>
            <p:ph type="title"/>
          </p:nvPr>
        </p:nvSpPr>
        <p:spPr>
          <a:xfrm>
            <a:off x="1849338" y="1177206"/>
            <a:ext cx="113097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80"/>
              <a:buFont typeface="Helvetica Neue"/>
              <a:buNone/>
            </a:pPr>
            <a:r>
              <a:rPr lang="en-US" sz="9380" u="sng">
                <a:solidFill>
                  <a:srgbClr val="FFFFFF"/>
                </a:solidFill>
              </a:rPr>
              <a:t>CO JE TO ŠANSON?</a:t>
            </a:r>
            <a:endParaRPr u="sng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"/>
          <p:cNvSpPr txBox="1"/>
          <p:nvPr>
            <p:ph idx="1" type="body"/>
          </p:nvPr>
        </p:nvSpPr>
        <p:spPr>
          <a:xfrm>
            <a:off x="1206500" y="4248504"/>
            <a:ext cx="16906800" cy="8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lnSpcReduction="20000"/>
          </a:bodyPr>
          <a:lstStyle/>
          <a:p>
            <a:pPr indent="-1219200" lvl="0" marL="1219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Středověk: Trubadúři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19. století: pařížské kabarety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Rozkvět: polovina 20. století </a:t>
            </a:r>
            <a:endParaRPr/>
          </a:p>
          <a:p>
            <a:pPr indent="-1219200" lvl="0" marL="1219200" rtl="0" algn="l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FFFFFF"/>
              </a:buClr>
              <a:buSzPts val="11808"/>
              <a:buFont typeface="Helvetica Neue"/>
              <a:buChar char="•"/>
            </a:pPr>
            <a:r>
              <a:rPr lang="en-US" sz="9600">
                <a:solidFill>
                  <a:srgbClr val="FFFFFF"/>
                </a:solidFill>
              </a:rPr>
              <a:t>Původně ,,píseň ulice’’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12" name="Google Shape;212;p2"/>
          <p:cNvSpPr txBox="1"/>
          <p:nvPr>
            <p:ph type="title"/>
          </p:nvPr>
        </p:nvSpPr>
        <p:spPr>
          <a:xfrm>
            <a:off x="1206500" y="1079500"/>
            <a:ext cx="11466900" cy="16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60"/>
              <a:buFont typeface="Helvetica Neue"/>
              <a:buNone/>
            </a:pPr>
            <a:r>
              <a:rPr lang="en-US" sz="9660" u="sng">
                <a:solidFill>
                  <a:srgbClr val="FFFFFF"/>
                </a:solidFill>
              </a:rPr>
              <a:t>HISTORIE A PŮVOD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řednes: expresivita, šepot, recitace…"/>
          <p:cNvSpPr txBox="1"/>
          <p:nvPr>
            <p:ph type="body" idx="1"/>
          </p:nvPr>
        </p:nvSpPr>
        <p:spPr>
          <a:xfrm>
            <a:off x="1206500" y="4248504"/>
            <a:ext cx="18268251" cy="8256630"/>
          </a:xfrm>
          <a:prstGeom prst="rect">
            <a:avLst/>
          </a:prstGeom>
        </p:spPr>
        <p:txBody>
          <a:bodyPr/>
          <a:lstStyle/>
          <a:p>
            <a:pPr marL="1051560" indent="-1051560" defTabSz="1682453">
              <a:spcBef>
                <a:spcPts val="3100"/>
              </a:spcBef>
              <a:defRPr sz="8280">
                <a:solidFill>
                  <a:srgbClr val="FFFFFF"/>
                </a:solidFill>
              </a:defRPr>
            </a:pPr>
            <a:r>
              <a:t>Přednes: expresivita, šepot, recitace</a:t>
            </a:r>
          </a:p>
          <a:p>
            <a:pPr marL="1051560" indent="-1051560" defTabSz="1682453">
              <a:spcBef>
                <a:spcPts val="3100"/>
              </a:spcBef>
              <a:defRPr sz="8280">
                <a:solidFill>
                  <a:srgbClr val="FFFFFF"/>
                </a:solidFill>
              </a:defRPr>
            </a:pPr>
            <a:r>
              <a:t>Gesta a výrazná mimika</a:t>
            </a:r>
          </a:p>
          <a:p>
            <a:pPr marL="1051560" indent="-1051560" defTabSz="1682453">
              <a:spcBef>
                <a:spcPts val="3100"/>
              </a:spcBef>
              <a:defRPr sz="8280">
                <a:solidFill>
                  <a:srgbClr val="FFFFFF"/>
                </a:solidFill>
              </a:defRPr>
            </a:pPr>
            <a:r>
              <a:t>Minimalistický doprovod: Klavír, akordeon, kytara</a:t>
            </a:r>
          </a:p>
          <a:p>
            <a:pPr marL="1051560" indent="-1051560" defTabSz="1682453">
              <a:spcBef>
                <a:spcPts val="3100"/>
              </a:spcBef>
              <a:defRPr sz="8280">
                <a:solidFill>
                  <a:srgbClr val="FFFFFF"/>
                </a:solidFill>
              </a:defRPr>
            </a:pPr>
            <a:r>
              <a:t>Priorita sdělení nad melodií</a:t>
            </a:r>
          </a:p>
        </p:txBody>
      </p:sp>
      <p:sp>
        <p:nvSpPr>
          <p:cNvPr id="182" name="JAK HO POZNÁME?"/>
          <p:cNvSpPr txBox="1"/>
          <p:nvPr>
            <p:ph type="title"/>
          </p:nvPr>
        </p:nvSpPr>
        <p:spPr>
          <a:xfrm>
            <a:off x="1622454" y="1018565"/>
            <a:ext cx="12161556" cy="1547180"/>
          </a:xfrm>
          <a:prstGeom prst="rect">
            <a:avLst/>
          </a:prstGeom>
        </p:spPr>
        <p:txBody>
          <a:bodyPr/>
          <a:lstStyle>
            <a:lvl1pPr defTabSz="1633687">
              <a:defRPr spc="-187" sz="9380" u="sng">
                <a:solidFill>
                  <a:srgbClr val="FFFFFF"/>
                </a:solidFill>
              </a:defRPr>
            </a:lvl1pPr>
          </a:lstStyle>
          <a:p>
            <a:pPr/>
            <a:r>
              <a:t>JAK HO POZNÁME?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Láska (vášeň i zklamání)…"/>
          <p:cNvSpPr txBox="1"/>
          <p:nvPr>
            <p:ph type="body" idx="1"/>
          </p:nvPr>
        </p:nvSpPr>
        <p:spPr>
          <a:xfrm>
            <a:off x="1206500" y="4248504"/>
            <a:ext cx="18154809" cy="8256630"/>
          </a:xfrm>
          <a:prstGeom prst="rect">
            <a:avLst/>
          </a:prstGeom>
        </p:spPr>
        <p:txBody>
          <a:bodyPr/>
          <a:lstStyle/>
          <a:p>
            <a:pPr marL="1219200" indent="-1219200" defTabSz="1950671">
              <a:spcBef>
                <a:spcPts val="3600"/>
              </a:spcBef>
              <a:defRPr sz="9600">
                <a:solidFill>
                  <a:srgbClr val="FFFFFF"/>
                </a:solidFill>
              </a:defRPr>
            </a:pPr>
            <a:r>
              <a:t>Láska (vášeň i zklamání)</a:t>
            </a:r>
          </a:p>
          <a:p>
            <a:pPr marL="1219200" indent="-1219200" defTabSz="1950671">
              <a:spcBef>
                <a:spcPts val="3600"/>
              </a:spcBef>
              <a:defRPr sz="9600">
                <a:solidFill>
                  <a:srgbClr val="FFFFFF"/>
                </a:solidFill>
              </a:defRPr>
            </a:pPr>
            <a:r>
              <a:t>Život na okraji společnosti </a:t>
            </a:r>
          </a:p>
          <a:p>
            <a:pPr marL="1219200" indent="-1219200" defTabSz="1950671">
              <a:spcBef>
                <a:spcPts val="3600"/>
              </a:spcBef>
              <a:defRPr sz="9600">
                <a:solidFill>
                  <a:srgbClr val="FFFFFF"/>
                </a:solidFill>
              </a:defRPr>
            </a:pPr>
            <a:r>
              <a:t>Melancholie, smutek, nostalgie</a:t>
            </a:r>
          </a:p>
          <a:p>
            <a:pPr marL="1219200" indent="-1219200" defTabSz="1950671">
              <a:spcBef>
                <a:spcPts val="3600"/>
              </a:spcBef>
              <a:defRPr sz="9600">
                <a:solidFill>
                  <a:srgbClr val="FFFFFF"/>
                </a:solidFill>
              </a:defRPr>
            </a:pPr>
            <a:r>
              <a:t>Každodenní realita a lidské osudz</a:t>
            </a:r>
          </a:p>
        </p:txBody>
      </p:sp>
      <p:sp>
        <p:nvSpPr>
          <p:cNvPr id="185" name="TÉMATA ŠANSONU"/>
          <p:cNvSpPr txBox="1"/>
          <p:nvPr>
            <p:ph type="title"/>
          </p:nvPr>
        </p:nvSpPr>
        <p:spPr>
          <a:xfrm>
            <a:off x="1206500" y="1079500"/>
            <a:ext cx="12596467" cy="1663309"/>
          </a:xfrm>
          <a:prstGeom prst="rect">
            <a:avLst/>
          </a:prstGeom>
        </p:spPr>
        <p:txBody>
          <a:bodyPr/>
          <a:lstStyle>
            <a:lvl1pPr defTabSz="1804370">
              <a:defRPr spc="-207" sz="10360" u="sng">
                <a:solidFill>
                  <a:srgbClr val="FFFFFF"/>
                </a:solidFill>
              </a:defRPr>
            </a:lvl1pPr>
          </a:lstStyle>
          <a:p>
            <a:pPr/>
            <a:r>
              <a:t>TÉMATA ŠANSONU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/>
          <p:nvPr>
            <p:ph idx="1" type="body"/>
          </p:nvPr>
        </p:nvSpPr>
        <p:spPr>
          <a:xfrm>
            <a:off x="1206499" y="4248504"/>
            <a:ext cx="14865000" cy="8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914400" lvl="0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6"/>
              <a:buFont typeface="Helvetica Neue"/>
              <a:buChar char="•"/>
            </a:pPr>
            <a:r>
              <a:rPr lang="en-US" sz="7200">
                <a:solidFill>
                  <a:srgbClr val="FFFFFF"/>
                </a:solidFill>
              </a:rPr>
              <a:t>Ikona žánru, přezdívka vrabčák</a:t>
            </a:r>
            <a:endParaRPr/>
          </a:p>
          <a:p>
            <a:pPr indent="-914400" lvl="0" marL="914400" rtl="0" algn="l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FFFFFF"/>
              </a:buClr>
              <a:buSzPts val="8856"/>
              <a:buFont typeface="Helvetica Neue"/>
              <a:buChar char="•"/>
            </a:pPr>
            <a:r>
              <a:rPr lang="en-US" sz="7200">
                <a:solidFill>
                  <a:srgbClr val="FFFFFF"/>
                </a:solidFill>
              </a:rPr>
              <a:t>Symbol francouzské kultury</a:t>
            </a:r>
            <a:endParaRPr/>
          </a:p>
          <a:p>
            <a:pPr indent="-914400" lvl="0" marL="914400" rtl="0" algn="l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FFFFFF"/>
              </a:buClr>
              <a:buSzPts val="8856"/>
              <a:buFont typeface="Helvetica Neue"/>
              <a:buChar char="•"/>
            </a:pPr>
            <a:r>
              <a:rPr lang="en-US" sz="7200">
                <a:solidFill>
                  <a:srgbClr val="FFFFFF"/>
                </a:solidFill>
              </a:rPr>
              <a:t>Drsný osud (ulice, chudoba)</a:t>
            </a:r>
            <a:endParaRPr/>
          </a:p>
          <a:p>
            <a:pPr indent="-914400" lvl="0" marL="914400" rtl="0" algn="l">
              <a:lnSpc>
                <a:spcPct val="90000"/>
              </a:lnSpc>
              <a:spcBef>
                <a:spcPts val="2700"/>
              </a:spcBef>
              <a:spcAft>
                <a:spcPts val="0"/>
              </a:spcAft>
              <a:buClr>
                <a:srgbClr val="FFFFFF"/>
              </a:buClr>
              <a:buSzPts val="8856"/>
              <a:buFont typeface="Helvetica Neue"/>
              <a:buChar char="•"/>
            </a:pPr>
            <a:r>
              <a:rPr lang="en-US" sz="7200">
                <a:solidFill>
                  <a:srgbClr val="FFFFFF"/>
                </a:solidFill>
              </a:rPr>
              <a:t>Nejslavnější hity: Non, je ne regrette rien (Ničeho nelituj), La Vie en rose (Život v růžovém), Padam…</a:t>
            </a:r>
            <a:endParaRPr/>
          </a:p>
        </p:txBody>
      </p:sp>
      <p:sp>
        <p:nvSpPr>
          <p:cNvPr id="215" name="Google Shape;215;p3"/>
          <p:cNvSpPr txBox="1"/>
          <p:nvPr>
            <p:ph type="title"/>
          </p:nvPr>
        </p:nvSpPr>
        <p:spPr>
          <a:xfrm>
            <a:off x="1130871" y="1155128"/>
            <a:ext cx="14236500" cy="2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 fontScale="90000"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Helvetica Neue"/>
              <a:buNone/>
            </a:pPr>
            <a:r>
              <a:rPr lang="en-US" sz="10220" u="sng">
                <a:solidFill>
                  <a:srgbClr val="FFFFFF"/>
                </a:solidFill>
              </a:rPr>
              <a:t>EDITH PIAF </a:t>
            </a:r>
            <a:r>
              <a:rPr lang="en-US" sz="10220">
                <a:solidFill>
                  <a:srgbClr val="FFFFFF"/>
                </a:solidFill>
              </a:rPr>
              <a:t>(1915-1963)</a:t>
            </a:r>
            <a:endParaRPr/>
          </a:p>
        </p:txBody>
      </p:sp>
      <p:pic>
        <p:nvPicPr>
          <p:cNvPr descr="Unknown (2).jpg" id="216" name="Google Shape;216;p3"/>
          <p:cNvPicPr preferRelativeResize="0"/>
          <p:nvPr/>
        </p:nvPicPr>
        <p:blipFill/>
        <p:spPr>
          <a:xfrm>
            <a:off x="15644196" y="2027074"/>
            <a:ext cx="8284007" cy="99408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"/>
          <p:cNvSpPr txBox="1"/>
          <p:nvPr/>
        </p:nvSpPr>
        <p:spPr>
          <a:xfrm>
            <a:off x="14982358" y="12190978"/>
            <a:ext cx="96078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Helvetica Neue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Zdroj: https://cz.pinterest.com/pin/52987733113835278/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"/>
          <p:cNvSpPr txBox="1"/>
          <p:nvPr>
            <p:ph idx="1" type="body"/>
          </p:nvPr>
        </p:nvSpPr>
        <p:spPr>
          <a:xfrm>
            <a:off x="1206500" y="3870364"/>
            <a:ext cx="15885900" cy="82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1203960" lvl="0" marL="120396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660"/>
              <a:buFont typeface="Helvetica Neue"/>
              <a:buChar char="•"/>
            </a:pPr>
            <a:r>
              <a:rPr lang="en-US" sz="9480">
                <a:solidFill>
                  <a:srgbClr val="FFFFFF"/>
                </a:solidFill>
              </a:rPr>
              <a:t>Charles Aznavour - La Bohème</a:t>
            </a:r>
            <a:endParaRPr/>
          </a:p>
          <a:p>
            <a:pPr indent="-1203960" lvl="0" marL="1203960" rtl="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11660"/>
              <a:buFont typeface="Helvetica Neue"/>
              <a:buChar char="•"/>
            </a:pPr>
            <a:r>
              <a:rPr lang="en-US" sz="9480">
                <a:solidFill>
                  <a:srgbClr val="FFFFFF"/>
                </a:solidFill>
              </a:rPr>
              <a:t>Jacques Brel - Ne me quitte pas (Neopouštěj mě)</a:t>
            </a:r>
            <a:endParaRPr/>
          </a:p>
          <a:p>
            <a:pPr indent="-1203960" lvl="0" marL="1203960" rtl="0" algn="l">
              <a:lnSpc>
                <a:spcPct val="90000"/>
              </a:lnSpc>
              <a:spcBef>
                <a:spcPts val="3500"/>
              </a:spcBef>
              <a:spcAft>
                <a:spcPts val="0"/>
              </a:spcAft>
              <a:buClr>
                <a:srgbClr val="FFFFFF"/>
              </a:buClr>
              <a:buSzPts val="11660"/>
              <a:buFont typeface="Helvetica Neue"/>
              <a:buChar char="•"/>
            </a:pPr>
            <a:r>
              <a:rPr lang="en-US" sz="9480">
                <a:solidFill>
                  <a:srgbClr val="FFFFFF"/>
                </a:solidFill>
              </a:rPr>
              <a:t>Gilbert Bècaud - Nathalie</a:t>
            </a:r>
            <a:endParaRPr/>
          </a:p>
        </p:txBody>
      </p:sp>
      <p:sp>
        <p:nvSpPr>
          <p:cNvPr id="220" name="Google Shape;220;p4"/>
          <p:cNvSpPr txBox="1"/>
          <p:nvPr>
            <p:ph type="title"/>
          </p:nvPr>
        </p:nvSpPr>
        <p:spPr>
          <a:xfrm>
            <a:off x="1698075" y="646124"/>
            <a:ext cx="14300700" cy="24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360"/>
              <a:buFont typeface="Helvetica Neue"/>
              <a:buNone/>
            </a:pPr>
            <a:r>
              <a:rPr lang="en-US" sz="9360" u="sng">
                <a:solidFill>
                  <a:srgbClr val="FFFFFF"/>
                </a:solidFill>
              </a:rPr>
              <a:t>DALŠÍ SVĚTOVÍ ŠANSONIÉŘI</a:t>
            </a:r>
            <a:endParaRPr u="sng"/>
          </a:p>
        </p:txBody>
      </p:sp>
      <p:sp>
        <p:nvSpPr>
          <p:cNvPr id="221" name="Google Shape;221;p4"/>
          <p:cNvSpPr/>
          <p:nvPr/>
        </p:nvSpPr>
        <p:spPr>
          <a:xfrm>
            <a:off x="15474596" y="-6935866"/>
            <a:ext cx="558550" cy="791109"/>
          </a:xfrm>
          <a:custGeom>
            <a:rect b="b" l="l" r="r" t="t"/>
            <a:pathLst>
              <a:path extrusionOk="0" h="21518" w="21270">
                <a:moveTo>
                  <a:pt x="6150" y="21518"/>
                </a:moveTo>
                <a:cubicBezTo>
                  <a:pt x="4470" y="16032"/>
                  <a:pt x="2790" y="10547"/>
                  <a:pt x="1590" y="6947"/>
                </a:cubicBezTo>
                <a:cubicBezTo>
                  <a:pt x="390" y="3347"/>
                  <a:pt x="-330" y="1632"/>
                  <a:pt x="150" y="775"/>
                </a:cubicBezTo>
                <a:cubicBezTo>
                  <a:pt x="630" y="-82"/>
                  <a:pt x="2310" y="-82"/>
                  <a:pt x="6030" y="89"/>
                </a:cubicBezTo>
                <a:cubicBezTo>
                  <a:pt x="9750" y="261"/>
                  <a:pt x="15510" y="604"/>
                  <a:pt x="21270" y="947"/>
                </a:cubicBezTo>
                <a:close/>
              </a:path>
            </a:pathLst>
          </a:custGeom>
          <a:solidFill>
            <a:srgbClr val="FCD0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 txBox="1"/>
          <p:nvPr>
            <p:ph idx="1" type="body"/>
          </p:nvPr>
        </p:nvSpPr>
        <p:spPr>
          <a:xfrm>
            <a:off x="1660268" y="4360498"/>
            <a:ext cx="15146400" cy="90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958596" lvl="0" marL="95859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84"/>
              <a:buFont typeface="Helvetica Neue"/>
              <a:buChar char="•"/>
            </a:pPr>
            <a:r>
              <a:rPr lang="en-US" sz="7548">
                <a:solidFill>
                  <a:srgbClr val="FFFFFF"/>
                </a:solidFill>
              </a:rPr>
              <a:t>Královna československého šansonu</a:t>
            </a:r>
            <a:endParaRPr/>
          </a:p>
          <a:p>
            <a:pPr indent="-958596" lvl="0" marL="958596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9284"/>
              <a:buFont typeface="Helvetica Neue"/>
              <a:buChar char="•"/>
            </a:pPr>
            <a:r>
              <a:rPr lang="en-US" sz="7548">
                <a:solidFill>
                  <a:srgbClr val="FFFFFF"/>
                </a:solidFill>
              </a:rPr>
              <a:t>Původně herečka - každou píseň prožívala jako divadelní roli</a:t>
            </a:r>
            <a:endParaRPr/>
          </a:p>
          <a:p>
            <a:pPr indent="-958596" lvl="0" marL="958596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9284"/>
              <a:buFont typeface="Helvetica Neue"/>
              <a:buChar char="•"/>
            </a:pPr>
            <a:r>
              <a:rPr lang="en-US" sz="7548">
                <a:solidFill>
                  <a:srgbClr val="FFFFFF"/>
                </a:solidFill>
              </a:rPr>
              <a:t>Vystupovala v pařížské Olympii</a:t>
            </a:r>
            <a:endParaRPr/>
          </a:p>
          <a:p>
            <a:pPr indent="-958596" lvl="0" marL="958596" rtl="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FFFFFF"/>
              </a:buClr>
              <a:buSzPts val="9284"/>
              <a:buFont typeface="Helvetica Neue"/>
              <a:buChar char="•"/>
            </a:pPr>
            <a:r>
              <a:rPr lang="en-US" sz="7548">
                <a:solidFill>
                  <a:srgbClr val="FFFFFF"/>
                </a:solidFill>
              </a:rPr>
              <a:t>Největší hity: Čerešně, Potměšilý host, Levandulová</a:t>
            </a:r>
            <a:endParaRPr/>
          </a:p>
        </p:txBody>
      </p:sp>
      <p:sp>
        <p:nvSpPr>
          <p:cNvPr id="224" name="Google Shape;224;p5"/>
          <p:cNvSpPr txBox="1"/>
          <p:nvPr>
            <p:ph type="title"/>
          </p:nvPr>
        </p:nvSpPr>
        <p:spPr>
          <a:xfrm>
            <a:off x="2265300" y="1023700"/>
            <a:ext cx="132579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14"/>
              <a:buFont typeface="Helvetica Neue"/>
              <a:buNone/>
            </a:pPr>
            <a:r>
              <a:rPr lang="en-US" sz="8214">
                <a:solidFill>
                  <a:srgbClr val="FFFFFF"/>
                </a:solidFill>
              </a:rPr>
              <a:t> </a:t>
            </a:r>
            <a:r>
              <a:rPr lang="en-US" sz="8880" u="sng">
                <a:solidFill>
                  <a:srgbClr val="FFFFFF"/>
                </a:solidFill>
              </a:rPr>
              <a:t>HANA HEGEROVÁ</a:t>
            </a:r>
            <a:r>
              <a:rPr lang="en-US" sz="8880">
                <a:solidFill>
                  <a:srgbClr val="FFFFFF"/>
                </a:solidFill>
              </a:rPr>
              <a:t> (1931-2021)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25" name="Google Shape;225;p5"/>
          <p:cNvGrpSpPr/>
          <p:nvPr/>
        </p:nvGrpSpPr>
        <p:grpSpPr>
          <a:xfrm>
            <a:off x="17322453" y="14804191"/>
            <a:ext cx="4012616" cy="7002009"/>
            <a:chOff x="-1621741" y="-207978"/>
            <a:chExt cx="4012616" cy="7002009"/>
          </a:xfrm>
        </p:grpSpPr>
        <p:sp>
          <p:nvSpPr>
            <p:cNvPr id="226" name="Google Shape;226;p5"/>
            <p:cNvSpPr/>
            <p:nvPr/>
          </p:nvSpPr>
          <p:spPr>
            <a:xfrm>
              <a:off x="-156787" y="0"/>
              <a:ext cx="2547663" cy="6794031"/>
            </a:xfrm>
            <a:custGeom>
              <a:rect b="b" l="l" r="r" t="t"/>
              <a:pathLst>
                <a:path extrusionOk="0" h="21580" w="21454">
                  <a:moveTo>
                    <a:pt x="1326" y="0"/>
                  </a:moveTo>
                  <a:cubicBezTo>
                    <a:pt x="795" y="661"/>
                    <a:pt x="264" y="1321"/>
                    <a:pt x="79" y="2062"/>
                  </a:cubicBezTo>
                  <a:cubicBezTo>
                    <a:pt x="-107" y="2803"/>
                    <a:pt x="52" y="3623"/>
                    <a:pt x="397" y="4444"/>
                  </a:cubicBezTo>
                  <a:cubicBezTo>
                    <a:pt x="742" y="5265"/>
                    <a:pt x="1273" y="6086"/>
                    <a:pt x="1857" y="6866"/>
                  </a:cubicBezTo>
                  <a:cubicBezTo>
                    <a:pt x="2440" y="7647"/>
                    <a:pt x="3077" y="8388"/>
                    <a:pt x="3741" y="9118"/>
                  </a:cubicBezTo>
                  <a:cubicBezTo>
                    <a:pt x="4404" y="9849"/>
                    <a:pt x="5094" y="10570"/>
                    <a:pt x="5864" y="11200"/>
                  </a:cubicBezTo>
                  <a:cubicBezTo>
                    <a:pt x="6633" y="11831"/>
                    <a:pt x="7482" y="12371"/>
                    <a:pt x="8676" y="12902"/>
                  </a:cubicBezTo>
                  <a:cubicBezTo>
                    <a:pt x="9870" y="13432"/>
                    <a:pt x="11409" y="13953"/>
                    <a:pt x="12736" y="14503"/>
                  </a:cubicBezTo>
                  <a:cubicBezTo>
                    <a:pt x="14063" y="15054"/>
                    <a:pt x="15178" y="15634"/>
                    <a:pt x="16133" y="16225"/>
                  </a:cubicBezTo>
                  <a:cubicBezTo>
                    <a:pt x="17088" y="16816"/>
                    <a:pt x="17884" y="17416"/>
                    <a:pt x="18654" y="18067"/>
                  </a:cubicBezTo>
                  <a:cubicBezTo>
                    <a:pt x="19423" y="18717"/>
                    <a:pt x="20166" y="19418"/>
                    <a:pt x="20644" y="20139"/>
                  </a:cubicBezTo>
                  <a:cubicBezTo>
                    <a:pt x="21122" y="20859"/>
                    <a:pt x="21334" y="21600"/>
                    <a:pt x="21413" y="21580"/>
                  </a:cubicBezTo>
                  <a:cubicBezTo>
                    <a:pt x="21493" y="21560"/>
                    <a:pt x="21440" y="20779"/>
                    <a:pt x="21387" y="19999"/>
                  </a:cubicBezTo>
                  <a:close/>
                </a:path>
              </a:pathLst>
            </a:custGeom>
            <a:solidFill>
              <a:srgbClr val="FCD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-1621741" y="-207978"/>
              <a:ext cx="2277808" cy="6188886"/>
            </a:xfrm>
            <a:custGeom>
              <a:rect b="b" l="l" r="r" t="t"/>
              <a:pathLst>
                <a:path extrusionOk="0" h="21600" w="21506">
                  <a:moveTo>
                    <a:pt x="4428" y="0"/>
                  </a:moveTo>
                  <a:cubicBezTo>
                    <a:pt x="3119" y="264"/>
                    <a:pt x="1810" y="528"/>
                    <a:pt x="1007" y="792"/>
                  </a:cubicBezTo>
                  <a:cubicBezTo>
                    <a:pt x="204" y="1056"/>
                    <a:pt x="-94" y="1320"/>
                    <a:pt x="25" y="1771"/>
                  </a:cubicBezTo>
                  <a:cubicBezTo>
                    <a:pt x="144" y="2222"/>
                    <a:pt x="680" y="2859"/>
                    <a:pt x="1275" y="3541"/>
                  </a:cubicBezTo>
                  <a:cubicBezTo>
                    <a:pt x="1870" y="4223"/>
                    <a:pt x="2524" y="4949"/>
                    <a:pt x="3089" y="5631"/>
                  </a:cubicBezTo>
                  <a:cubicBezTo>
                    <a:pt x="3655" y="6313"/>
                    <a:pt x="4131" y="6951"/>
                    <a:pt x="4845" y="7567"/>
                  </a:cubicBezTo>
                  <a:cubicBezTo>
                    <a:pt x="5559" y="8182"/>
                    <a:pt x="6511" y="8776"/>
                    <a:pt x="7493" y="9447"/>
                  </a:cubicBezTo>
                  <a:cubicBezTo>
                    <a:pt x="8475" y="10118"/>
                    <a:pt x="9486" y="10866"/>
                    <a:pt x="10438" y="11625"/>
                  </a:cubicBezTo>
                  <a:cubicBezTo>
                    <a:pt x="11390" y="12384"/>
                    <a:pt x="12283" y="13154"/>
                    <a:pt x="13146" y="13901"/>
                  </a:cubicBezTo>
                  <a:cubicBezTo>
                    <a:pt x="14008" y="14649"/>
                    <a:pt x="14842" y="15375"/>
                    <a:pt x="15615" y="16145"/>
                  </a:cubicBezTo>
                  <a:cubicBezTo>
                    <a:pt x="16389" y="16915"/>
                    <a:pt x="17103" y="17729"/>
                    <a:pt x="17787" y="18510"/>
                  </a:cubicBezTo>
                  <a:cubicBezTo>
                    <a:pt x="18471" y="19290"/>
                    <a:pt x="19126" y="20038"/>
                    <a:pt x="19602" y="20511"/>
                  </a:cubicBezTo>
                  <a:cubicBezTo>
                    <a:pt x="20078" y="20984"/>
                    <a:pt x="20375" y="21182"/>
                    <a:pt x="20643" y="21336"/>
                  </a:cubicBezTo>
                  <a:cubicBezTo>
                    <a:pt x="20911" y="21490"/>
                    <a:pt x="21149" y="21600"/>
                    <a:pt x="21298" y="21600"/>
                  </a:cubicBezTo>
                  <a:cubicBezTo>
                    <a:pt x="21446" y="21600"/>
                    <a:pt x="21506" y="21490"/>
                    <a:pt x="21506" y="21149"/>
                  </a:cubicBezTo>
                  <a:cubicBezTo>
                    <a:pt x="21506" y="20808"/>
                    <a:pt x="21446" y="20236"/>
                    <a:pt x="21387" y="19664"/>
                  </a:cubicBezTo>
                  <a:close/>
                </a:path>
              </a:pathLst>
            </a:custGeom>
            <a:solidFill>
              <a:srgbClr val="FCD02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Helvetica Neue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descr="IMG_0004.jpeg" id="228" name="Google Shape;228;p5"/>
          <p:cNvPicPr preferRelativeResize="0"/>
          <p:nvPr/>
        </p:nvPicPr>
        <p:blipFill/>
        <p:spPr>
          <a:xfrm>
            <a:off x="17028698" y="1023695"/>
            <a:ext cx="6868985" cy="99291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5"/>
          <p:cNvSpPr txBox="1"/>
          <p:nvPr/>
        </p:nvSpPr>
        <p:spPr>
          <a:xfrm>
            <a:off x="16952328" y="11329353"/>
            <a:ext cx="70218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Helvetica Neue"/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Zdroj: https://www.knihyantik.eu/pohlednice/7800-hana-hegerova.html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NATA DRÖSSLER…"/>
          <p:cNvSpPr txBox="1"/>
          <p:nvPr>
            <p:ph type="body" sz="half" idx="1"/>
          </p:nvPr>
        </p:nvSpPr>
        <p:spPr>
          <a:xfrm>
            <a:off x="921273" y="4547922"/>
            <a:ext cx="10707066" cy="7550416"/>
          </a:xfrm>
          <a:prstGeom prst="rect">
            <a:avLst/>
          </a:prstGeom>
        </p:spPr>
        <p:txBody>
          <a:bodyPr/>
          <a:lstStyle/>
          <a:p>
            <a:pPr marL="1524000" indent="-1524000">
              <a:defRPr sz="12000">
                <a:solidFill>
                  <a:srgbClr val="FFFFFF"/>
                </a:solidFill>
              </a:defRPr>
            </a:pPr>
            <a:r>
              <a:t>RENATA DRÖSSLER</a:t>
            </a:r>
          </a:p>
          <a:p>
            <a:pPr marL="1524000" indent="-1524000">
              <a:defRPr sz="12000">
                <a:solidFill>
                  <a:srgbClr val="FFFFFF"/>
                </a:solidFill>
              </a:defRPr>
            </a:pPr>
            <a:r>
              <a:t>RADŮZA</a:t>
            </a:r>
          </a:p>
        </p:txBody>
      </p:sp>
      <p:sp>
        <p:nvSpPr>
          <p:cNvPr id="205" name="DALŠÍ ČESKÉ ŠANSONIÉRKY"/>
          <p:cNvSpPr txBox="1"/>
          <p:nvPr>
            <p:ph type="title"/>
          </p:nvPr>
        </p:nvSpPr>
        <p:spPr>
          <a:xfrm>
            <a:off x="1849338" y="734945"/>
            <a:ext cx="14969107" cy="2813955"/>
          </a:xfrm>
          <a:prstGeom prst="rect">
            <a:avLst/>
          </a:prstGeom>
        </p:spPr>
        <p:txBody>
          <a:bodyPr/>
          <a:lstStyle>
            <a:lvl1pPr defTabSz="1706837">
              <a:defRPr spc="-195" sz="9800" u="sng">
                <a:solidFill>
                  <a:srgbClr val="FFFFFF"/>
                </a:solidFill>
              </a:defRPr>
            </a:lvl1pPr>
          </a:lstStyle>
          <a:p>
            <a:pPr/>
            <a:r>
              <a:t>DALŠÍ ČESKÉ ŠANSONIÉRKY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8.xml" val="3441803656"/>
  <p:tag name="ppt/slides/slide7.xml" val="645326356"/>
  <p:tag name="ppt/slides/slide6.xml" val="2761421490"/>
  <p:tag name="ppt/slides/slide3.xml" val="3876699595"/>
  <p:tag name="ppt/slides/slide2.xml" val="1335470735"/>
  <p:tag name="ppt/slideMasters/slideMaster1.xml" val="993988278"/>
  <p:tag name="ppt/theme/theme1.xml" val="1606611273"/>
  <p:tag name="ppt/slideLayouts/slideLayout1.xml" val="183574218"/>
  <p:tag name="ppt/slideLayouts/slideLayout2.xml" val="2410349811"/>
  <p:tag name="ppt/slideLayouts/slideLayout3.xml" val="2819036732"/>
  <p:tag name="ppt/slideLayouts/slideLayout4.xml" val="4191198422"/>
  <p:tag name="ppt/slideLayouts/slideLayout5.xml" val="2061197200"/>
  <p:tag name="ppt/slideLayouts/slideLayout6.xml" val="2681423591"/>
  <p:tag name="ppt/slideLayouts/slideLayout7.xml" val="1071068475"/>
  <p:tag name="ppt/slideLayouts/slideLayout8.xml" val="3501843056"/>
  <p:tag name="ppt/slideLayouts/slideLayout9.xml" val="1781070663"/>
  <p:tag name="ppt/slideLayouts/slideLayout10.xml" val="3782361291"/>
  <p:tag name="ppt/slideLayouts/slideLayout11.xml" val="269552953"/>
  <p:tag name="ppt/slideLayouts/slideLayout12.xml" val="330098455"/>
  <p:tag name="ppt/slideLayouts/slideLayout13.xml" val="1028835482"/>
  <p:tag name="ppt/slideLayouts/slideLayout14.xml" val="2694783899"/>
  <p:tag name="ppt/slideLayouts/slideLayout15.xml" val="1770238362"/>
  <p:tag name="ppt/slideLayouts/slideLayout16.xml" val="3831023791"/>
  <p:tag name="ppt/slideLayouts/slideLayout17.xml" val="2565451982"/>
  <p:tag name="ppt/notesMasters/notesMaster1.xml" val="2676244616"/>
  <p:tag name="ppt/theme/theme2.xml" val="1606611273"/>
  <p:tag name="ppt/slides/slide1.xml" val="1618667220"/>
  <p:tag name="ppt/slides/slide4.xml" val="1056797828"/>
  <p:tag name="ppt/slides/slide5.xml" val="3728599855"/>
  <p:tag name="ppt/slides/slide9.xml" val="4206103576"/>
  <p:tag name="ppt/media/image1.jpeg" val="2950082152"/>
</p:tagLst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